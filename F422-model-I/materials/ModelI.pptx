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277" r:id="rId2"/>
    <p:sldId id="286" r:id="rId3"/>
    <p:sldId id="267" r:id="rId4"/>
    <p:sldId id="285" r:id="rId5"/>
    <p:sldId id="281" r:id="rId6"/>
    <p:sldId id="282" r:id="rId7"/>
    <p:sldId id="283" r:id="rId8"/>
    <p:sldId id="287" r:id="rId9"/>
    <p:sldId id="288" r:id="rId10"/>
    <p:sldId id="275" r:id="rId11"/>
    <p:sldId id="290" r:id="rId12"/>
    <p:sldId id="291" r:id="rId13"/>
    <p:sldId id="292" r:id="rId14"/>
    <p:sldId id="293" r:id="rId15"/>
    <p:sldId id="278" r:id="rId16"/>
    <p:sldId id="284" r:id="rId17"/>
    <p:sldId id="271" r:id="rId18"/>
    <p:sldId id="273" r:id="rId19"/>
    <p:sldId id="276" r:id="rId20"/>
    <p:sldId id="280" r:id="rId21"/>
    <p:sldId id="279" r:id="rId22"/>
    <p:sldId id="289" r:id="rId23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5A2"/>
    <a:srgbClr val="FEFEA0"/>
    <a:srgbClr val="2EC206"/>
    <a:srgbClr val="ACF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14E7E-6FA5-4A21-A920-2C265CAAA6EA}" v="49" dt="2025-11-19T20:34:27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,Yu" userId="47603a95-fd25-46ce-90bf-583f3fe8b6b6" providerId="ADAL" clId="{3DF134D3-B3B8-4BBC-B56D-F56090A30CE5}"/>
    <pc:docChg chg="undo custSel addSld modSld">
      <pc:chgData name="Wei,Yu" userId="47603a95-fd25-46ce-90bf-583f3fe8b6b6" providerId="ADAL" clId="{3DF134D3-B3B8-4BBC-B56D-F56090A30CE5}" dt="2025-11-19T20:34:27.323" v="362" actId="1076"/>
      <pc:docMkLst>
        <pc:docMk/>
      </pc:docMkLst>
      <pc:sldChg chg="mod modShow">
        <pc:chgData name="Wei,Yu" userId="47603a95-fd25-46ce-90bf-583f3fe8b6b6" providerId="ADAL" clId="{3DF134D3-B3B8-4BBC-B56D-F56090A30CE5}" dt="2025-11-17T19:03:34.897" v="2" actId="729"/>
        <pc:sldMkLst>
          <pc:docMk/>
          <pc:sldMk cId="0" sldId="271"/>
        </pc:sldMkLst>
      </pc:sldChg>
      <pc:sldChg chg="mod modShow">
        <pc:chgData name="Wei,Yu" userId="47603a95-fd25-46ce-90bf-583f3fe8b6b6" providerId="ADAL" clId="{3DF134D3-B3B8-4BBC-B56D-F56090A30CE5}" dt="2025-11-17T19:03:37.416" v="3" actId="729"/>
        <pc:sldMkLst>
          <pc:docMk/>
          <pc:sldMk cId="0" sldId="273"/>
        </pc:sldMkLst>
      </pc:sldChg>
      <pc:sldChg chg="mod modShow">
        <pc:chgData name="Wei,Yu" userId="47603a95-fd25-46ce-90bf-583f3fe8b6b6" providerId="ADAL" clId="{3DF134D3-B3B8-4BBC-B56D-F56090A30CE5}" dt="2025-11-17T19:03:41.090" v="4" actId="729"/>
        <pc:sldMkLst>
          <pc:docMk/>
          <pc:sldMk cId="0" sldId="276"/>
        </pc:sldMkLst>
      </pc:sldChg>
      <pc:sldChg chg="mod modShow">
        <pc:chgData name="Wei,Yu" userId="47603a95-fd25-46ce-90bf-583f3fe8b6b6" providerId="ADAL" clId="{3DF134D3-B3B8-4BBC-B56D-F56090A30CE5}" dt="2025-11-17T19:01:31.367" v="0" actId="729"/>
        <pc:sldMkLst>
          <pc:docMk/>
          <pc:sldMk cId="0" sldId="278"/>
        </pc:sldMkLst>
      </pc:sldChg>
      <pc:sldChg chg="mod modShow">
        <pc:chgData name="Wei,Yu" userId="47603a95-fd25-46ce-90bf-583f3fe8b6b6" providerId="ADAL" clId="{3DF134D3-B3B8-4BBC-B56D-F56090A30CE5}" dt="2025-11-17T19:03:48.022" v="6" actId="729"/>
        <pc:sldMkLst>
          <pc:docMk/>
          <pc:sldMk cId="0" sldId="279"/>
        </pc:sldMkLst>
      </pc:sldChg>
      <pc:sldChg chg="mod modShow">
        <pc:chgData name="Wei,Yu" userId="47603a95-fd25-46ce-90bf-583f3fe8b6b6" providerId="ADAL" clId="{3DF134D3-B3B8-4BBC-B56D-F56090A30CE5}" dt="2025-11-17T19:03:45.367" v="5" actId="729"/>
        <pc:sldMkLst>
          <pc:docMk/>
          <pc:sldMk cId="0" sldId="280"/>
        </pc:sldMkLst>
      </pc:sldChg>
      <pc:sldChg chg="mod modShow">
        <pc:chgData name="Wei,Yu" userId="47603a95-fd25-46ce-90bf-583f3fe8b6b6" providerId="ADAL" clId="{3DF134D3-B3B8-4BBC-B56D-F56090A30CE5}" dt="2025-11-17T19:01:33.851" v="1" actId="729"/>
        <pc:sldMkLst>
          <pc:docMk/>
          <pc:sldMk cId="0" sldId="284"/>
        </pc:sldMkLst>
      </pc:sldChg>
      <pc:sldChg chg="addSp delSp modSp new mod modClrScheme chgLayout">
        <pc:chgData name="Wei,Yu" userId="47603a95-fd25-46ce-90bf-583f3fe8b6b6" providerId="ADAL" clId="{3DF134D3-B3B8-4BBC-B56D-F56090A30CE5}" dt="2025-11-17T19:12:46.374" v="224" actId="1076"/>
        <pc:sldMkLst>
          <pc:docMk/>
          <pc:sldMk cId="452112081" sldId="290"/>
        </pc:sldMkLst>
        <pc:spChg chg="mod">
          <ac:chgData name="Wei,Yu" userId="47603a95-fd25-46ce-90bf-583f3fe8b6b6" providerId="ADAL" clId="{3DF134D3-B3B8-4BBC-B56D-F56090A30CE5}" dt="2025-11-17T19:12:41.552" v="223" actId="14100"/>
          <ac:spMkLst>
            <pc:docMk/>
            <pc:sldMk cId="452112081" sldId="290"/>
            <ac:spMk id="2" creationId="{FF984795-B9E8-7FE0-56B3-C5414F915B29}"/>
          </ac:spMkLst>
        </pc:spChg>
        <pc:spChg chg="add mod">
          <ac:chgData name="Wei,Yu" userId="47603a95-fd25-46ce-90bf-583f3fe8b6b6" providerId="ADAL" clId="{3DF134D3-B3B8-4BBC-B56D-F56090A30CE5}" dt="2025-11-17T19:12:46.374" v="224" actId="1076"/>
          <ac:spMkLst>
            <pc:docMk/>
            <pc:sldMk cId="452112081" sldId="290"/>
            <ac:spMk id="5" creationId="{97597769-CE79-BD3F-A784-86B5EB736844}"/>
          </ac:spMkLst>
        </pc:spChg>
        <pc:spChg chg="add mod">
          <ac:chgData name="Wei,Yu" userId="47603a95-fd25-46ce-90bf-583f3fe8b6b6" providerId="ADAL" clId="{3DF134D3-B3B8-4BBC-B56D-F56090A30CE5}" dt="2025-11-17T19:12:09.671" v="190" actId="14100"/>
          <ac:spMkLst>
            <pc:docMk/>
            <pc:sldMk cId="452112081" sldId="290"/>
            <ac:spMk id="7" creationId="{78599938-832D-CE42-C9B4-6135A354A5CA}"/>
          </ac:spMkLst>
        </pc:spChg>
        <pc:graphicFrameChg chg="add mod ord modGraphic">
          <ac:chgData name="Wei,Yu" userId="47603a95-fd25-46ce-90bf-583f3fe8b6b6" providerId="ADAL" clId="{3DF134D3-B3B8-4BBC-B56D-F56090A30CE5}" dt="2025-11-17T19:12:02.314" v="188" actId="14100"/>
          <ac:graphicFrameMkLst>
            <pc:docMk/>
            <pc:sldMk cId="452112081" sldId="290"/>
            <ac:graphicFrameMk id="4" creationId="{3E23E305-56D7-974C-1B58-0A5BFE5DA4A7}"/>
          </ac:graphicFrameMkLst>
        </pc:graphicFrameChg>
      </pc:sldChg>
      <pc:sldChg chg="addSp delSp modSp new mod modClrScheme chgLayout">
        <pc:chgData name="Wei,Yu" userId="47603a95-fd25-46ce-90bf-583f3fe8b6b6" providerId="ADAL" clId="{3DF134D3-B3B8-4BBC-B56D-F56090A30CE5}" dt="2025-11-19T20:34:27.323" v="362" actId="1076"/>
        <pc:sldMkLst>
          <pc:docMk/>
          <pc:sldMk cId="2404013008" sldId="291"/>
        </pc:sldMkLst>
        <pc:spChg chg="add del mod">
          <ac:chgData name="Wei,Yu" userId="47603a95-fd25-46ce-90bf-583f3fe8b6b6" providerId="ADAL" clId="{3DF134D3-B3B8-4BBC-B56D-F56090A30CE5}" dt="2025-11-19T20:34:27.323" v="362" actId="1076"/>
          <ac:spMkLst>
            <pc:docMk/>
            <pc:sldMk cId="2404013008" sldId="291"/>
            <ac:spMk id="2" creationId="{F2849F4B-AFC2-1BB2-E473-BE227F407C43}"/>
          </ac:spMkLst>
        </pc:spChg>
        <pc:graphicFrameChg chg="add mod modGraphic">
          <ac:chgData name="Wei,Yu" userId="47603a95-fd25-46ce-90bf-583f3fe8b6b6" providerId="ADAL" clId="{3DF134D3-B3B8-4BBC-B56D-F56090A30CE5}" dt="2025-11-17T19:14:31.884" v="278" actId="1076"/>
          <ac:graphicFrameMkLst>
            <pc:docMk/>
            <pc:sldMk cId="2404013008" sldId="291"/>
            <ac:graphicFrameMk id="5" creationId="{8B3A3B6B-1BCE-EB53-906B-050044BDA636}"/>
          </ac:graphicFrameMkLst>
        </pc:graphicFrameChg>
      </pc:sldChg>
      <pc:sldChg chg="addSp delSp modSp new mod">
        <pc:chgData name="Wei,Yu" userId="47603a95-fd25-46ce-90bf-583f3fe8b6b6" providerId="ADAL" clId="{3DF134D3-B3B8-4BBC-B56D-F56090A30CE5}" dt="2025-11-17T19:16:02.086" v="319" actId="1076"/>
        <pc:sldMkLst>
          <pc:docMk/>
          <pc:sldMk cId="1196833734" sldId="292"/>
        </pc:sldMkLst>
        <pc:spChg chg="mod">
          <ac:chgData name="Wei,Yu" userId="47603a95-fd25-46ce-90bf-583f3fe8b6b6" providerId="ADAL" clId="{3DF134D3-B3B8-4BBC-B56D-F56090A30CE5}" dt="2025-11-17T19:15:57.359" v="318" actId="1076"/>
          <ac:spMkLst>
            <pc:docMk/>
            <pc:sldMk cId="1196833734" sldId="292"/>
            <ac:spMk id="2" creationId="{6B0F7C34-2DE8-CF0D-7995-8DB218D14007}"/>
          </ac:spMkLst>
        </pc:spChg>
        <pc:spChg chg="add mod">
          <ac:chgData name="Wei,Yu" userId="47603a95-fd25-46ce-90bf-583f3fe8b6b6" providerId="ADAL" clId="{3DF134D3-B3B8-4BBC-B56D-F56090A30CE5}" dt="2025-11-17T19:16:02.086" v="319" actId="1076"/>
          <ac:spMkLst>
            <pc:docMk/>
            <pc:sldMk cId="1196833734" sldId="292"/>
            <ac:spMk id="5" creationId="{38757891-AF5C-ADD1-0965-FFCA40C585AB}"/>
          </ac:spMkLst>
        </pc:spChg>
      </pc:sldChg>
      <pc:sldChg chg="delSp modSp new mod">
        <pc:chgData name="Wei,Yu" userId="47603a95-fd25-46ce-90bf-583f3fe8b6b6" providerId="ADAL" clId="{3DF134D3-B3B8-4BBC-B56D-F56090A30CE5}" dt="2025-11-17T19:17:01.576" v="359" actId="1076"/>
        <pc:sldMkLst>
          <pc:docMk/>
          <pc:sldMk cId="1958111317" sldId="293"/>
        </pc:sldMkLst>
        <pc:spChg chg="mod">
          <ac:chgData name="Wei,Yu" userId="47603a95-fd25-46ce-90bf-583f3fe8b6b6" providerId="ADAL" clId="{3DF134D3-B3B8-4BBC-B56D-F56090A30CE5}" dt="2025-11-17T19:17:01.576" v="359" actId="1076"/>
          <ac:spMkLst>
            <pc:docMk/>
            <pc:sldMk cId="1958111317" sldId="293"/>
            <ac:spMk id="2" creationId="{56B931CD-1B9E-D439-3787-685134DD0E4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26E0C0A8-5BC7-A01E-8608-A7F841D8DC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A9E50373-D1B2-3201-9150-B3B8DD3B43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B0D7C0F5-9D84-2064-DE9F-08533AEAEF5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9" name="Rectangle 5">
            <a:extLst>
              <a:ext uri="{FF2B5EF4-FFF2-40B4-BE49-F238E27FC236}">
                <a16:creationId xmlns:a16="http://schemas.microsoft.com/office/drawing/2014/main" id="{286C1FFF-91A4-52FE-9C40-87E10D02739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E01355B-C4C4-42C9-A16F-E2D54A3F0A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0F5601A-714E-212E-EBF0-A108AE5A12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BE64047-AF16-D907-D861-EC05CEF389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438775" y="0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30F28FE-C341-B307-C093-DA749AAE329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76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273315AC-33D3-1946-D5E8-FBF6E438239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5038"/>
            <a:ext cx="7680325" cy="329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E76F9A1-0CE8-DF24-6ED8-A0BAFF394A7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FE882531-4723-7E5F-49C5-862D612C7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775" y="6948488"/>
            <a:ext cx="41608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17A2EE-6C0A-4E76-BA3C-7E0995C5BF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2A23C994-BD56-AA85-ADEE-A846D2E80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0B93342-3C7D-4C99-9A43-113A7AEEC7CF}" type="slidenum">
              <a:rPr lang="en-US" altLang="en-US" sz="1200" smtClean="0"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850CBF4-2C9B-BF43-3E4C-305102741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8D233040-91FF-EFCC-F9F8-877AD9E626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165FECA1-8187-E3C4-D124-7AC69102D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0757585-3217-49B6-8A9F-9575EB496725}" type="slidenum">
              <a:rPr lang="en-US" altLang="en-US" smtClean="0">
                <a:latin typeface="Arial" panose="020B0604020202020204" pitchFamily="34" charset="0"/>
              </a:rPr>
              <a:pPr/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5F90DBC9-8AA9-FCDE-B341-24EB4368FC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E97853D-6A80-C474-B3E2-5EA16D760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B1358177-97C5-EB56-D72E-40E4C3E81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3EE0F71-824C-440F-ABB8-CBB5DC6E0CCE}" type="slidenum">
              <a:rPr lang="en-US" altLang="en-US" smtClean="0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54D0ED0-A910-4599-1314-239A0F7628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771A66F-C2C2-EFED-04F3-CAEE94D23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8EEE2B4-06AE-2A27-BF84-FD2D8B73F6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977C79F-973B-4B17-A3F4-288CE5068592}" type="slidenum">
              <a:rPr lang="en-US" altLang="en-US" smtClean="0">
                <a:latin typeface="Arial" panose="020B0604020202020204" pitchFamily="34" charset="0"/>
              </a:rPr>
              <a:pPr/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973E75CC-74D7-DB21-EBD1-828369856D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7187A5F-24AC-113B-94BA-CA391F77F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7086D36-A81D-9425-7BDB-8D15B222507C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676838CB-BC5A-BAE6-1D40-AAE5777F6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D72DFC0E-3EFF-7036-2342-2388AA3ED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7374EAC3-3269-C82E-6490-EE9951D6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22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-106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D028855-94ED-CF2C-EED9-68EF6CD242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51CB25BA-CA9C-5903-C90C-EA23F4D4F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6373FCD5-0F24-D9E6-51EE-629193F78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99124-CE71-493C-9CA6-FF26684A48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845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0BAB706-BA6C-73E8-362D-6D9FDAFF0F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F75A079-153C-C9BB-57E8-E3CE2F0B10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1492B0E-1254-F6BA-4E84-DDCB7E1F50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531CBC-A1AE-4093-BD42-D3EB722C0C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027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E2314AAA-A039-8A50-C09B-7E1BA102E2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3A414B3-CB69-470B-EBE5-8F2656D222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7A29048-ECF3-0992-EAEB-D357FBA413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19064-74FB-453A-84A9-A3F27D1940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03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78F7B58-CB66-7029-533D-3A1DFE6F6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F2BAF80E-11B3-33C5-848B-EF46D1BE9A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2F6BFFF-5C75-B5A9-C248-11E2A7E205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BF7E-0EDB-458F-962C-7AEF7B0ACA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767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F100E5B-9C3E-DB1B-C5AC-99FD938AC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AA87C374-61F8-411F-1AE3-5B382CF38C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EC3E9A94-62AF-EE36-7588-902E46806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E5E52-7F73-430C-83E2-69B4299A87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34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21C1825-F9E7-E9A6-3EE2-1C754653F5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6A75355-DA20-B139-963A-1CE61BD549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F1802215-AD8D-9338-0774-1CC4239B4E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7FE7A9-0865-4599-AF46-310048A178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2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74EB89D-79B2-D7A0-8D49-EEB0F1EEC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BEF68E6-421E-7AE3-7412-52C89E65B3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5F89352-9C5B-EBD9-703E-5CB7C04C72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87760-89A0-4020-8C32-B3C556C226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433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427A387-EB70-3DF9-7C4F-B5F5F8CCBB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5AACA99-6A7E-4AEF-EDCA-8DFFA263BD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1B2B2C7-CFA7-56F5-1EEB-40E28C8545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58D27-5133-4885-8597-912A177E14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598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161094E-0F3B-A200-78B8-A63BF9479D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FFA95F4-4D01-EB78-8ED1-30DBBC0691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1EB652F-0467-10BD-B90C-7D71C53710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48B66-6AA0-4A98-BDF1-B6FA6FEB98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904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83F09F0-1822-1472-280C-3A45B90E39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A5CFC3E-87E7-DFEA-8310-9A24217FFC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8665C2E-211B-DB35-AD1C-6B824D4ECC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7702A-CB03-4A2F-B2E6-A96F7FC4C9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79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E7BBA2D-7297-5400-5599-0166551503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7946C42-3941-D2A9-901D-33DC25D6C6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8AC5403-E26E-295C-3FCC-C79D7A4494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A5994-1E50-4CDC-AB71-110F4DF8B0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219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0DBDDF8-868E-DF44-F1D4-2325F04A93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0E166983-17E3-0A56-51A9-5051613BF4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0AD1EFB4-4E1F-1B5E-5ACE-29368E621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BCCDC-41C4-4E5D-81FE-5A5D6A11D1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2678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E32ED1F-C02D-E607-6709-2E4417F308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4586267-70CD-7136-98C7-4D07237C37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093E1BF-FE0A-D0BE-88AB-C6D528B899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C277-20EC-439D-B1D2-B652812AB2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10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C715525B-6767-A75A-F2AF-B1EEBC4DD848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B14A0BE2-AFD6-5B2A-A6F7-F2658FD6F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3B80DAA9-D510-591E-D8E0-8E64F9FB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0 w 64000"/>
                <a:gd name="T1" fmla="*/ 0 h 64000"/>
                <a:gd name="T2" fmla="*/ 0 w 64000"/>
                <a:gd name="T3" fmla="*/ 0 h 64000"/>
                <a:gd name="T4" fmla="*/ 0 w 64000"/>
                <a:gd name="T5" fmla="*/ 0 h 64000"/>
                <a:gd name="T6" fmla="*/ 0 w 64000"/>
                <a:gd name="T7" fmla="*/ 0 h 64000"/>
                <a:gd name="T8" fmla="*/ 0 w 64000"/>
                <a:gd name="T9" fmla="*/ 0 h 64000"/>
                <a:gd name="T10" fmla="*/ 0 w 64000"/>
                <a:gd name="T11" fmla="*/ 0 h 64000"/>
                <a:gd name="T12" fmla="*/ 0 w 64000"/>
                <a:gd name="T13" fmla="*/ 0 h 64000"/>
                <a:gd name="T14" fmla="*/ 0 w 64000"/>
                <a:gd name="T15" fmla="*/ 0 h 64000"/>
                <a:gd name="T16" fmla="*/ 0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187B9018-B6D5-CEC0-D477-694B9324C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AAB3DBB6-61A0-99A9-1301-F83C04A75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7A967D69-4F24-64CF-FD2B-BD47FDA52E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08" name="Rectangle 8">
            <a:extLst>
              <a:ext uri="{FF2B5EF4-FFF2-40B4-BE49-F238E27FC236}">
                <a16:creationId xmlns:a16="http://schemas.microsoft.com/office/drawing/2014/main" id="{56015A68-B1A1-CF7D-AA3B-E3B9A1D486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Verdan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9" name="Rectangle 9">
            <a:extLst>
              <a:ext uri="{FF2B5EF4-FFF2-40B4-BE49-F238E27FC236}">
                <a16:creationId xmlns:a16="http://schemas.microsoft.com/office/drawing/2014/main" id="{C3A4D5E3-2928-7AB9-F1A7-AADD2F9065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Verdan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10" name="Rectangle 10">
            <a:extLst>
              <a:ext uri="{FF2B5EF4-FFF2-40B4-BE49-F238E27FC236}">
                <a16:creationId xmlns:a16="http://schemas.microsoft.com/office/drawing/2014/main" id="{04A2C03D-846F-9BB0-4C1B-7C3C0E85D6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2A7CCC2-1A36-4610-93BA-37FB7DFBE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¡"/>
        <a:defRPr sz="29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500">
          <a:solidFill>
            <a:schemeClr val="tx1"/>
          </a:solidFill>
          <a:latin typeface="+mn-lt"/>
          <a:ea typeface="ＭＳ Ｐゴシック" pitchFamily="-10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sz="2200">
          <a:solidFill>
            <a:schemeClr val="tx1"/>
          </a:solidFill>
          <a:latin typeface="+mn-lt"/>
          <a:ea typeface="ＭＳ Ｐゴシック" pitchFamily="-10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  <a:ea typeface="ＭＳ Ｐゴシック" pitchFamily="-10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sz="1900">
          <a:solidFill>
            <a:schemeClr val="tx1"/>
          </a:solidFill>
          <a:latin typeface="+mn-lt"/>
          <a:ea typeface="ＭＳ Ｐゴシック" pitchFamily="-10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-106" charset="2"/>
        <a:buChar char="¡"/>
        <a:defRPr sz="1900">
          <a:solidFill>
            <a:schemeClr val="tx1"/>
          </a:solidFill>
          <a:latin typeface="+mn-lt"/>
          <a:ea typeface="ＭＳ Ｐゴシック" pitchFamily="-106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-106" charset="2"/>
        <a:buChar char="¡"/>
        <a:defRPr sz="1900">
          <a:solidFill>
            <a:schemeClr val="tx1"/>
          </a:solidFill>
          <a:latin typeface="+mn-lt"/>
          <a:ea typeface="ＭＳ Ｐゴシック" pitchFamily="-106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-106" charset="2"/>
        <a:buChar char="¡"/>
        <a:defRPr sz="1900">
          <a:solidFill>
            <a:schemeClr val="tx1"/>
          </a:solidFill>
          <a:latin typeface="+mn-lt"/>
          <a:ea typeface="ＭＳ Ｐゴシック" pitchFamily="-106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-106" charset="2"/>
        <a:buChar char="¡"/>
        <a:defRPr sz="1900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8924518-BFBE-D81B-4216-6CE6DB38AC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2438400"/>
            <a:ext cx="7239000" cy="1444625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Introduction to the Model I forest planning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5448-7761-7432-B547-22907383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44487"/>
            <a:ext cx="7313612" cy="1143000"/>
          </a:xfrm>
        </p:spPr>
        <p:txBody>
          <a:bodyPr/>
          <a:lstStyle/>
          <a:p>
            <a:r>
              <a:rPr lang="en-US" dirty="0"/>
              <a:t>Model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F5D-74EC-3EE6-BCE3-CD8E2119D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7" y="1752600"/>
            <a:ext cx="8226425" cy="4114800"/>
          </a:xfrm>
        </p:spPr>
        <p:txBody>
          <a:bodyPr/>
          <a:lstStyle/>
          <a:p>
            <a:r>
              <a:rPr lang="en-US" sz="2400" dirty="0"/>
              <a:t>In forest planning, </a:t>
            </a:r>
            <a:r>
              <a:rPr lang="en-US" sz="2400" b="1" dirty="0"/>
              <a:t>Model I</a:t>
            </a:r>
            <a:r>
              <a:rPr lang="en-US" sz="2400" dirty="0"/>
              <a:t> is one of the foundational formulations used for </a:t>
            </a:r>
            <a:r>
              <a:rPr lang="en-US" sz="2400" b="1" dirty="0"/>
              <a:t>scheduling and managing timber harvests</a:t>
            </a:r>
            <a:r>
              <a:rPr lang="en-US" sz="2400" dirty="0"/>
              <a:t> to meet specific management objectives and achieve desired forest conditions. </a:t>
            </a:r>
          </a:p>
          <a:p>
            <a:r>
              <a:rPr lang="en-US" sz="2400" dirty="0"/>
              <a:t>The goal is to determine an optimal harvest schedule for a forest over a fixed planning horizon.</a:t>
            </a:r>
          </a:p>
          <a:p>
            <a:r>
              <a:rPr lang="en-US" sz="2400" dirty="0"/>
              <a:t>Its unique feature is to use a large set of pre-identified prescriptions to build a LP model.  </a:t>
            </a:r>
          </a:p>
        </p:txBody>
      </p:sp>
    </p:spTree>
    <p:extLst>
      <p:ext uri="{BB962C8B-B14F-4D97-AF65-F5344CB8AC3E}">
        <p14:creationId xmlns:p14="http://schemas.microsoft.com/office/powerpoint/2010/main" val="163045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CCF32F-8270-68EE-9F09-70D7722A4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609600"/>
            <a:ext cx="7313613" cy="889000"/>
          </a:xfrm>
        </p:spPr>
        <p:txBody>
          <a:bodyPr/>
          <a:lstStyle/>
          <a:p>
            <a:pPr eaLnBrk="1" hangingPunct="1"/>
            <a:r>
              <a:rPr lang="en-US" altLang="en-US" sz="2800" b="1">
                <a:ea typeface="ＭＳ Ｐゴシック" panose="020B0600070205080204" pitchFamily="34" charset="-128"/>
              </a:rPr>
              <a:t>Diagram for the original dynamic model</a:t>
            </a:r>
          </a:p>
        </p:txBody>
      </p:sp>
      <p:graphicFrame>
        <p:nvGraphicFramePr>
          <p:cNvPr id="6147" name="Object 2">
            <a:extLst>
              <a:ext uri="{FF2B5EF4-FFF2-40B4-BE49-F238E27FC236}">
                <a16:creationId xmlns:a16="http://schemas.microsoft.com/office/drawing/2014/main" id="{B01750E9-1172-B9EC-1B25-50E054801B9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79500" y="2566988"/>
          <a:ext cx="6983413" cy="286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984091" imgH="2869355" progId="Visio.Drawing.11">
                  <p:embed/>
                </p:oleObj>
              </mc:Choice>
              <mc:Fallback>
                <p:oleObj name="Visio" r:id="rId3" imgW="6984091" imgH="2869355" progId="Visio.Drawing.11">
                  <p:embed/>
                  <p:pic>
                    <p:nvPicPr>
                      <p:cNvPr id="6147" name="Object 2">
                        <a:extLst>
                          <a:ext uri="{FF2B5EF4-FFF2-40B4-BE49-F238E27FC236}">
                            <a16:creationId xmlns:a16="http://schemas.microsoft.com/office/drawing/2014/main" id="{B01750E9-1172-B9EC-1B25-50E054801B9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2566988"/>
                        <a:ext cx="6983413" cy="286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Text Box 4">
            <a:extLst>
              <a:ext uri="{FF2B5EF4-FFF2-40B4-BE49-F238E27FC236}">
                <a16:creationId xmlns:a16="http://schemas.microsoft.com/office/drawing/2014/main" id="{A689DF9F-6006-5135-1F67-D5D561C08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81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J=1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0FA885A6-0CDD-9AE0-2882-6B8341C96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981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J=2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7B24AAFE-C565-802A-22A2-869D174D3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981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J=3</a:t>
            </a:r>
          </a:p>
        </p:txBody>
      </p:sp>
      <p:sp>
        <p:nvSpPr>
          <p:cNvPr id="6151" name="Text Box 7">
            <a:extLst>
              <a:ext uri="{FF2B5EF4-FFF2-40B4-BE49-F238E27FC236}">
                <a16:creationId xmlns:a16="http://schemas.microsoft.com/office/drawing/2014/main" id="{159A0346-C5A5-AC29-8045-766E184D3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743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i=1</a:t>
            </a:r>
          </a:p>
        </p:txBody>
      </p:sp>
      <p:sp>
        <p:nvSpPr>
          <p:cNvPr id="6152" name="Text Box 8">
            <a:extLst>
              <a:ext uri="{FF2B5EF4-FFF2-40B4-BE49-F238E27FC236}">
                <a16:creationId xmlns:a16="http://schemas.microsoft.com/office/drawing/2014/main" id="{08268255-407F-B16F-EC9C-8879FC46E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505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i=2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186E0214-D1F9-B7EA-47B1-FAA83E6B0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3434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i=3</a:t>
            </a:r>
          </a:p>
        </p:txBody>
      </p:sp>
      <p:sp>
        <p:nvSpPr>
          <p:cNvPr id="6154" name="Text Box 10">
            <a:extLst>
              <a:ext uri="{FF2B5EF4-FFF2-40B4-BE49-F238E27FC236}">
                <a16:creationId xmlns:a16="http://schemas.microsoft.com/office/drawing/2014/main" id="{775E45AC-1910-B891-049E-81A51ABD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1816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i=4</a:t>
            </a:r>
          </a:p>
        </p:txBody>
      </p:sp>
      <p:pic>
        <p:nvPicPr>
          <p:cNvPr id="6155" name="Picture 1">
            <a:extLst>
              <a:ext uri="{FF2B5EF4-FFF2-40B4-BE49-F238E27FC236}">
                <a16:creationId xmlns:a16="http://schemas.microsoft.com/office/drawing/2014/main" id="{386096A7-FC34-CA72-5224-AFB5AF657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583238"/>
            <a:ext cx="9493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9D173E2-E34C-D6FB-808C-AEA62E96F1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9425" y="500063"/>
            <a:ext cx="8534400" cy="530225"/>
          </a:xfrm>
        </p:spPr>
        <p:txBody>
          <a:bodyPr/>
          <a:lstStyle/>
          <a:p>
            <a:r>
              <a:rPr lang="en-US" altLang="en-US" sz="2800" b="1" dirty="0">
                <a:ea typeface="ＭＳ Ｐゴシック" panose="020B0600070205080204" pitchFamily="34" charset="-128"/>
              </a:rPr>
              <a:t>All model I prescriptions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431D6-132A-6CDE-383C-8CDFA57F8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924633"/>
              </p:ext>
            </p:extLst>
          </p:nvPr>
        </p:nvGraphicFramePr>
        <p:xfrm>
          <a:off x="147638" y="1676400"/>
          <a:ext cx="8904291" cy="3386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2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1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27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82541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Prescription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P2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Volume harvested per ha in each period from forest with different initial age classes</a:t>
                      </a:r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Initial Age 1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Initial Age 2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Initial Age 3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Initial Age 4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2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4" marR="6857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68574" marR="68574" marT="0" marB="0">
                    <a:solidFill>
                      <a:schemeClr val="accent4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1453" name="Picture 5">
            <a:extLst>
              <a:ext uri="{FF2B5EF4-FFF2-40B4-BE49-F238E27FC236}">
                <a16:creationId xmlns:a16="http://schemas.microsoft.com/office/drawing/2014/main" id="{B9B90101-2780-C05C-4A05-2609D4D18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5446713"/>
            <a:ext cx="40116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BE20466-0CC7-09E7-14B8-7E9B059AE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52450"/>
            <a:ext cx="8534400" cy="530225"/>
          </a:xfrm>
        </p:spPr>
        <p:txBody>
          <a:bodyPr/>
          <a:lstStyle/>
          <a:p>
            <a:r>
              <a:rPr lang="en-US" altLang="en-US" sz="2800" b="1" dirty="0">
                <a:ea typeface="ＭＳ Ｐゴシック" panose="020B0600070205080204" pitchFamily="34" charset="-128"/>
              </a:rPr>
              <a:t>All model I prescriptions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B8ADB6-1506-1B65-D082-7627D31EE0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026869"/>
              </p:ext>
            </p:extLst>
          </p:nvPr>
        </p:nvGraphicFramePr>
        <p:xfrm>
          <a:off x="620713" y="1166813"/>
          <a:ext cx="7902575" cy="46736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9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23229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Prescription ID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P2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P3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 volume/ha harvested within the planning horizon from forest of different initial age class</a:t>
                      </a:r>
                    </a:p>
                  </a:txBody>
                  <a:tcPr marL="68579" marR="68579" marT="0" marB="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4" marR="6857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 1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 2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 3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Age 4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650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4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68579" marR="6857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8292" name="Picture 5">
            <a:extLst>
              <a:ext uri="{FF2B5EF4-FFF2-40B4-BE49-F238E27FC236}">
                <a16:creationId xmlns:a16="http://schemas.microsoft.com/office/drawing/2014/main" id="{6FEE1FC8-0F84-F8CB-380E-A7C8BB8D0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5894388"/>
            <a:ext cx="4833937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3" name="TextBox 4">
            <a:extLst>
              <a:ext uri="{FF2B5EF4-FFF2-40B4-BE49-F238E27FC236}">
                <a16:creationId xmlns:a16="http://schemas.microsoft.com/office/drawing/2014/main" id="{4BF7F123-49A6-E2A2-38B3-B7A14CD47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6061075"/>
            <a:ext cx="2209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C: clearcut;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N: “do nothing”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64559873-30D6-F533-0308-E79F204817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Model I decision variables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03EA6CC-E2B7-FAA5-FFFE-9E89283E0D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For age class 1: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400" dirty="0">
                <a:ea typeface="ＭＳ Ｐゴシック" panose="020B0600070205080204" pitchFamily="34" charset="-128"/>
              </a:rPr>
              <a:t>11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12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13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14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15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16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17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18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For age class 2: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400" dirty="0">
                <a:ea typeface="ＭＳ Ｐゴシック" panose="020B0600070205080204" pitchFamily="34" charset="-128"/>
              </a:rPr>
              <a:t>21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22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23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24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25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26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27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28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For age class 3: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400" dirty="0">
                <a:ea typeface="ＭＳ Ｐゴシック" panose="020B0600070205080204" pitchFamily="34" charset="-128"/>
              </a:rPr>
              <a:t>31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32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33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34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35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36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37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38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For age class 4: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400" dirty="0">
                <a:ea typeface="ＭＳ Ｐゴシック" panose="020B0600070205080204" pitchFamily="34" charset="-128"/>
              </a:rPr>
              <a:t>41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42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43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44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45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46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47</a:t>
            </a:r>
            <a:r>
              <a:rPr lang="en-US" altLang="en-US" dirty="0">
                <a:ea typeface="ＭＳ Ｐゴシック" panose="020B0600070205080204" pitchFamily="34" charset="-128"/>
              </a:rPr>
              <a:t>, X</a:t>
            </a:r>
            <a:r>
              <a:rPr lang="en-US" altLang="en-US" sz="1400" dirty="0">
                <a:ea typeface="ＭＳ Ｐゴシック" panose="020B0600070205080204" pitchFamily="34" charset="-128"/>
              </a:rPr>
              <a:t>48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1997D659-3345-50DE-56FD-E2D3A68E8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Reformulate the dynamic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E901-575B-0008-A5A6-331AAF79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597025"/>
            <a:ext cx="7693025" cy="1527175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Objective to maximize total timber production during the 3-decade: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Max Z = 0X</a:t>
            </a:r>
            <a:r>
              <a:rPr lang="en-US" sz="1100" dirty="0"/>
              <a:t>11</a:t>
            </a:r>
            <a:r>
              <a:rPr lang="en-US" sz="1800" dirty="0"/>
              <a:t>+500</a:t>
            </a:r>
            <a:r>
              <a:rPr lang="en-US" sz="2000" dirty="0"/>
              <a:t>X</a:t>
            </a:r>
            <a:r>
              <a:rPr lang="en-US" sz="1100" dirty="0"/>
              <a:t>12</a:t>
            </a:r>
            <a:r>
              <a:rPr lang="en-US" sz="2000" dirty="0"/>
              <a:t>+250X</a:t>
            </a:r>
            <a:r>
              <a:rPr lang="en-US" sz="1100" dirty="0"/>
              <a:t>13</a:t>
            </a:r>
            <a:r>
              <a:rPr lang="en-US" sz="2000" dirty="0"/>
              <a:t>+300X</a:t>
            </a:r>
            <a:r>
              <a:rPr lang="en-US" sz="1100" dirty="0"/>
              <a:t>14 …… </a:t>
            </a:r>
            <a:r>
              <a:rPr lang="en-US" sz="2000" dirty="0"/>
              <a:t>+150X</a:t>
            </a:r>
            <a:r>
              <a:rPr lang="en-US" sz="1050" dirty="0"/>
              <a:t>18</a:t>
            </a:r>
            <a:r>
              <a:rPr lang="en-US" sz="2000" dirty="0"/>
              <a:t> + ……</a:t>
            </a:r>
            <a:r>
              <a:rPr lang="en-US" sz="1000" dirty="0"/>
              <a:t> </a:t>
            </a:r>
            <a:r>
              <a:rPr lang="en-US" sz="2000" dirty="0"/>
              <a:t>0X</a:t>
            </a:r>
            <a:r>
              <a:rPr lang="en-US" sz="1100" dirty="0"/>
              <a:t>21</a:t>
            </a:r>
            <a:r>
              <a:rPr lang="en-US" sz="2000" dirty="0"/>
              <a:t>+ … + (     )X</a:t>
            </a:r>
            <a:r>
              <a:rPr lang="en-US" sz="1000" dirty="0"/>
              <a:t>48</a:t>
            </a: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4E2A1ED7-4D38-C7B4-350F-77BEA6D8C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3124200"/>
            <a:ext cx="737552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CD5D-AF35-3D19-D181-5BD37D6A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1625"/>
            <a:ext cx="7921625" cy="1143000"/>
          </a:xfrm>
        </p:spPr>
        <p:txBody>
          <a:bodyPr/>
          <a:lstStyle/>
          <a:p>
            <a:r>
              <a:rPr lang="en-US" sz="2800"/>
              <a:t>Other constraints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6AB81-56D2-387D-968C-D1B4F6AF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827213"/>
            <a:ext cx="7693025" cy="4114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11</a:t>
            </a:r>
            <a:r>
              <a:rPr lang="en-US" altLang="en-US" sz="32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12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13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14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15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16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17</a:t>
            </a:r>
            <a:r>
              <a:rPr lang="en-US" altLang="en-US" sz="2800" dirty="0">
                <a:ea typeface="ＭＳ Ｐゴシック" panose="020B0600070205080204" pitchFamily="34" charset="-128"/>
              </a:rPr>
              <a:t>+</a:t>
            </a:r>
            <a:r>
              <a:rPr lang="en-US" altLang="en-US" dirty="0"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ea typeface="ＭＳ Ｐゴシック" panose="020B0600070205080204" pitchFamily="34" charset="-128"/>
              </a:rPr>
              <a:t>18</a:t>
            </a:r>
            <a:r>
              <a:rPr lang="en-US" altLang="en-US" sz="2800" dirty="0">
                <a:ea typeface="ＭＳ Ｐゴシック" panose="020B0600070205080204" pitchFamily="34" charset="-128"/>
              </a:rPr>
              <a:t>=100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1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5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6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7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8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=200</a:t>
            </a: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1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5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6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7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8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=50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1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5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6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7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+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X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4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8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=150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53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8F98-F1E2-3FFE-343E-65F55471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formulate even timber flow constraint?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C12DA-92FC-8FD5-9639-64B3B3F33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lang="en-US" altLang="en-US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H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1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=???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=???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3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=???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&lt;=</a:t>
            </a:r>
            <a:r>
              <a:rPr kumimoji="0" lang="en-US" altLang="en-US" sz="2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lang="en-US" altLang="en-US" sz="16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</a:p>
          <a:p>
            <a:pPr>
              <a:buClr>
                <a:srgbClr val="006666"/>
              </a:buClr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lang="en-US" altLang="en-US" sz="14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2</a:t>
            </a:r>
            <a:r>
              <a:rPr lang="en-US" altLang="en-US" sz="2800" dirty="0">
                <a:solidFill>
                  <a:srgbClr val="000000"/>
                </a:solidFill>
                <a:latin typeface="Verdana"/>
                <a:ea typeface="ＭＳ Ｐゴシック" panose="020B0600070205080204" pitchFamily="34" charset="-128"/>
              </a:rPr>
              <a:t>&lt;=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H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ＭＳ Ｐゴシック" panose="020B0600070205080204" pitchFamily="34" charset="-128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6666"/>
              </a:buClr>
              <a:buSzPct val="70000"/>
              <a:buFont typeface="Wingdings" panose="05000000000000000000" pitchFamily="2" charset="2"/>
              <a:buChar char="¡"/>
              <a:tabLst/>
              <a:defRPr/>
            </a:pP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95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01F3245-6D5F-4B5B-8B31-EC30EBD62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313613" cy="1143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basic structure of Model I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C085B15-A740-D596-39B3-1B7D7622C0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888288" cy="4572000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Management units: i.e., stand, stratum, … 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Many candidate silviculture prescriptions designed for each unit depending on: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Min/max rotation ages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Thinning options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Length of planning periods and planning horizons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Each prescription represents a sequence of mgmt. activities across time, which can cross multiple rotations. </a:t>
            </a:r>
          </a:p>
          <a:p>
            <a:pPr lvl="1"/>
            <a:r>
              <a:rPr lang="en-US" altLang="en-US" sz="1600" dirty="0">
                <a:ea typeface="ＭＳ Ｐゴシック" panose="020B0600070205080204" pitchFamily="34" charset="-128"/>
              </a:rPr>
              <a:t>i.e., thin from bellow to BA 40 at decade 10, prescribed fire at decade 11, clearcut at decade 15, thin again at decade 19 and clearcut again at decade 25. 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Forest planning becomes an optimal assignment problem: how many acres of each forest stratum should be managed by following each prescription?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84795-B9E8-7FE0-56B3-C5414F91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7162800" cy="116205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200" b="1" dirty="0">
                <a:latin typeface="+mj-lt"/>
                <a:ea typeface="ＭＳ Ｐゴシック" pitchFamily="-106" charset="-128"/>
                <a:cs typeface="ＭＳ Ｐゴシック" pitchFamily="-106" charset="-128"/>
              </a:rPr>
              <a:t>An example used for homework 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7597769-CE79-BD3F-A784-86B5EB736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1" y="1593850"/>
            <a:ext cx="3828259" cy="469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indent="457200"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-914400" algn="l"/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Consider two forest types in a forest; </a:t>
            </a:r>
          </a:p>
          <a:p>
            <a:pPr marL="628650" lvl="1" indent="-17145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1000 acres of 40-year old poorly stocked mixed pine/fir forest. </a:t>
            </a:r>
          </a:p>
          <a:p>
            <a:pPr marL="628650" lvl="1" indent="-17145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en-US" sz="1400" dirty="0">
                <a:ea typeface="ＭＳ Ｐゴシック" pitchFamily="-106" charset="-128"/>
                <a:cs typeface="ＭＳ Ｐゴシック" pitchFamily="-106" charset="-128"/>
              </a:rPr>
              <a:t>2000 acres of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10-year old fully stocked pine forest, 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ach planning period is 10-year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oth forest types would be regenerated as fully stocked pine forest after a clearcut. 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se a discount rate of 0%.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he timber stumpage price is $25/cord from both forest types.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Minimum harvest age:</a:t>
            </a:r>
          </a:p>
          <a:p>
            <a:pPr marL="628650" lvl="1" indent="-17145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40-year for poorly stocked pine/fir forest</a:t>
            </a:r>
            <a:endParaRPr lang="en-US" altLang="en-US" sz="1400" dirty="0">
              <a:latin typeface="+mn-lt"/>
              <a:ea typeface="ＭＳ Ｐゴシック" pitchFamily="-106" charset="-128"/>
              <a:cs typeface="ＭＳ Ｐゴシック" pitchFamily="-106" charset="-128"/>
            </a:endParaRPr>
          </a:p>
          <a:p>
            <a:pPr marL="628650" lvl="1" indent="-17145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30-year for fully stocked pine forest.</a:t>
            </a:r>
          </a:p>
          <a:p>
            <a:pPr marL="628650" lvl="1" indent="-17145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+mn-lt"/>
                <a:ea typeface="ＭＳ Ｐゴシック" pitchFamily="-106" charset="-128"/>
                <a:cs typeface="ＭＳ Ｐゴシック" pitchFamily="-106" charset="-128"/>
              </a:rPr>
              <a:t>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o upper limit for either forest type.</a:t>
            </a:r>
          </a:p>
          <a:p>
            <a:pPr marL="171450" marR="0" indent="-17145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>
                <a:tab pos="-914400" algn="l"/>
                <a:tab pos="457200" algn="l"/>
              </a:tabLst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All harvesting activities occur at the beginning of each 10-year period.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23E305-56D7-974C-1B58-0A5BFE5DA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199141"/>
              </p:ext>
            </p:extLst>
          </p:nvPr>
        </p:nvGraphicFramePr>
        <p:xfrm>
          <a:off x="4495800" y="1619250"/>
          <a:ext cx="4045789" cy="4029776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634332">
                  <a:extLst>
                    <a:ext uri="{9D8B030D-6E8A-4147-A177-3AD203B41FA5}">
                      <a16:colId xmlns:a16="http://schemas.microsoft.com/office/drawing/2014/main" val="2112426851"/>
                    </a:ext>
                  </a:extLst>
                </a:gridCol>
                <a:gridCol w="1835334">
                  <a:extLst>
                    <a:ext uri="{9D8B030D-6E8A-4147-A177-3AD203B41FA5}">
                      <a16:colId xmlns:a16="http://schemas.microsoft.com/office/drawing/2014/main" val="2526211080"/>
                    </a:ext>
                  </a:extLst>
                </a:gridCol>
                <a:gridCol w="1576123">
                  <a:extLst>
                    <a:ext uri="{9D8B030D-6E8A-4147-A177-3AD203B41FA5}">
                      <a16:colId xmlns:a16="http://schemas.microsoft.com/office/drawing/2014/main" val="2545530098"/>
                    </a:ext>
                  </a:extLst>
                </a:gridCol>
              </a:tblGrid>
              <a:tr h="98316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Age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Yield for poorly stocked mixed pine/fire forest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(cords/acre)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Yield for fully stocked pine forest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(cords/acre)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455570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30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11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479788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40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9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18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327727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50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13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21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80932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60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16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24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833476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70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19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27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884085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80</a:t>
                      </a:r>
                      <a:endParaRPr lang="en-US" sz="1200" b="1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22</a:t>
                      </a:r>
                      <a:endParaRPr 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29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270366"/>
                  </a:ext>
                </a:extLst>
              </a:tr>
              <a:tr h="43487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</a:rPr>
                        <a:t>90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25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30</a:t>
                      </a:r>
                      <a:endParaRPr 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0219" marR="126131" marT="126131" marB="12613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7298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599938-832D-CE42-C9B4-6135A354A5CA}"/>
              </a:ext>
            </a:extLst>
          </p:cNvPr>
          <p:cNvSpPr txBox="1"/>
          <p:nvPr/>
        </p:nvSpPr>
        <p:spPr>
          <a:xfrm>
            <a:off x="4419601" y="5715000"/>
            <a:ext cx="4191000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latinLnBrk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0000"/>
              <a:tabLst>
                <a:tab pos="-914400" algn="l"/>
                <a:tab pos="457200" algn="l"/>
              </a:tabLs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106" charset="-128"/>
                <a:cs typeface="ＭＳ Ｐゴシック" pitchFamily="-106" charset="-128"/>
              </a:rPr>
              <a:t>Table 1: Yield table for poorly stocked pine/fir and fully stocked pine forest based on age.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+mn-lt"/>
              <a:ea typeface="ＭＳ Ｐゴシック" pitchFamily="-106" charset="-128"/>
              <a:cs typeface="ＭＳ Ｐゴシック" pitchFamily="-106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211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9F4B-AFC2-1BB2-E473-BE227F40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685800"/>
            <a:ext cx="7313612" cy="74767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Prescriptions built for the forest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3A3B6B-1BCE-EB53-906B-050044BDA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49714"/>
              </p:ext>
            </p:extLst>
          </p:nvPr>
        </p:nvGraphicFramePr>
        <p:xfrm>
          <a:off x="1066795" y="1752600"/>
          <a:ext cx="7616830" cy="42434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068">
                  <a:extLst>
                    <a:ext uri="{9D8B030D-6E8A-4147-A177-3AD203B41FA5}">
                      <a16:colId xmlns:a16="http://schemas.microsoft.com/office/drawing/2014/main" val="2776300939"/>
                    </a:ext>
                  </a:extLst>
                </a:gridCol>
                <a:gridCol w="328977">
                  <a:extLst>
                    <a:ext uri="{9D8B030D-6E8A-4147-A177-3AD203B41FA5}">
                      <a16:colId xmlns:a16="http://schemas.microsoft.com/office/drawing/2014/main" val="1518673119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2393143825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2348028813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3312440160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3764290623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3054868739"/>
                    </a:ext>
                  </a:extLst>
                </a:gridCol>
                <a:gridCol w="753119">
                  <a:extLst>
                    <a:ext uri="{9D8B030D-6E8A-4147-A177-3AD203B41FA5}">
                      <a16:colId xmlns:a16="http://schemas.microsoft.com/office/drawing/2014/main" val="3153046142"/>
                    </a:ext>
                  </a:extLst>
                </a:gridCol>
                <a:gridCol w="948068">
                  <a:extLst>
                    <a:ext uri="{9D8B030D-6E8A-4147-A177-3AD203B41FA5}">
                      <a16:colId xmlns:a16="http://schemas.microsoft.com/office/drawing/2014/main" val="1426138360"/>
                    </a:ext>
                  </a:extLst>
                </a:gridCol>
                <a:gridCol w="328977">
                  <a:extLst>
                    <a:ext uri="{9D8B030D-6E8A-4147-A177-3AD203B41FA5}">
                      <a16:colId xmlns:a16="http://schemas.microsoft.com/office/drawing/2014/main" val="2212929639"/>
                    </a:ext>
                  </a:extLst>
                </a:gridCol>
                <a:gridCol w="328977">
                  <a:extLst>
                    <a:ext uri="{9D8B030D-6E8A-4147-A177-3AD203B41FA5}">
                      <a16:colId xmlns:a16="http://schemas.microsoft.com/office/drawing/2014/main" val="114960422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1081005245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2673540322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3117729869"/>
                    </a:ext>
                  </a:extLst>
                </a:gridCol>
                <a:gridCol w="358614">
                  <a:extLst>
                    <a:ext uri="{9D8B030D-6E8A-4147-A177-3AD203B41FA5}">
                      <a16:colId xmlns:a16="http://schemas.microsoft.com/office/drawing/2014/main" val="2338611107"/>
                    </a:ext>
                  </a:extLst>
                </a:gridCol>
                <a:gridCol w="753118">
                  <a:extLst>
                    <a:ext uri="{9D8B030D-6E8A-4147-A177-3AD203B41FA5}">
                      <a16:colId xmlns:a16="http://schemas.microsoft.com/office/drawing/2014/main" val="2360450644"/>
                    </a:ext>
                  </a:extLst>
                </a:gridCol>
              </a:tblGrid>
              <a:tr h="416474"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Poorly Stocked pine/fir, 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currently at age 40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Fully Stocked pine, 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currently at age 10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19020"/>
                  </a:ext>
                </a:extLst>
              </a:tr>
              <a:tr h="312725"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Prescription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Sequence #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6"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Yield in Period (cords/acre)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Net 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Revenue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($/acre)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Prescription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Sequence #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6"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Yield in Period (cords/acre)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Net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Revenue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($/acre)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2944420505"/>
                  </a:ext>
                </a:extLst>
              </a:tr>
              <a:tr h="3127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098827"/>
                  </a:ext>
                </a:extLst>
              </a:tr>
              <a:tr h="268963"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 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 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720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2338234678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275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2266859029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500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2497516050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18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18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3251806072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1465927645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24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600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extLst>
                  <a:ext uri="{0D108BD9-81ED-4DB2-BD59-A6C34878D82A}">
                    <a16:rowId xmlns:a16="http://schemas.microsoft.com/office/drawing/2014/main" val="2911698380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600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rowSpan="7" gridSpan="8"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881849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775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096145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400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25742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91471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19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449001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>
                        <a:buNone/>
                      </a:pPr>
                      <a:r>
                        <a:rPr lang="en-US" sz="900">
                          <a:effectLst/>
                        </a:rPr>
                        <a:t>22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071393"/>
                  </a:ext>
                </a:extLst>
              </a:tr>
              <a:tr h="244378"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100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25</a:t>
                      </a:r>
                      <a:endParaRPr lang="en-US" sz="100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525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spcAft>
                          <a:spcPts val="29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ESRI Conservation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96" marR="51896" marT="0" marB="0"/>
                </a:tc>
                <a:tc gridSpan="8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0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01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7C34-2DE8-CF0D-7995-8DB218D14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762000"/>
            <a:ext cx="7313612" cy="682625"/>
          </a:xfrm>
        </p:spPr>
        <p:txBody>
          <a:bodyPr/>
          <a:lstStyle/>
          <a:p>
            <a:r>
              <a:rPr lang="en-US" dirty="0"/>
              <a:t>Mathematical formulations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57891-AF5C-ADD1-0965-FFCA40C585AB}"/>
              </a:ext>
            </a:extLst>
          </p:cNvPr>
          <p:cNvSpPr txBox="1"/>
          <p:nvPr/>
        </p:nvSpPr>
        <p:spPr>
          <a:xfrm>
            <a:off x="1258092" y="1600200"/>
            <a:ext cx="73882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/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all </a:t>
            </a:r>
            <a:r>
              <a:rPr lang="en-US" sz="1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variables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including the definition of </a:t>
            </a:r>
            <a:r>
              <a:rPr lang="en-US" sz="1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subscripts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write out the </a:t>
            </a:r>
            <a:r>
              <a:rPr lang="en-US" sz="1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I’s mathematical formulation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 2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landowner’s objective is to maximize the total net revenue from managing the entire forest during the next 60 years. This Model I formulation should include </a:t>
            </a:r>
            <a:r>
              <a:rPr lang="en-US" sz="16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following components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742950" marR="0" lvl="1" indent="-285750" algn="just">
              <a:buFont typeface="+mj-lt"/>
              <a:buAutoNum type="alphaLcPeriod"/>
              <a:tabLst>
                <a:tab pos="9144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objective function</a:t>
            </a:r>
            <a:endParaRPr lang="en-US" sz="16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buFont typeface="+mj-lt"/>
              <a:buAutoNum type="alphaLcPeriod"/>
              <a:tabLst>
                <a:tab pos="9144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constraints for initial available areas of each forest type </a:t>
            </a:r>
            <a:endParaRPr lang="en-US" sz="16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buFont typeface="+mj-lt"/>
              <a:buAutoNum type="alphaLcPeriod"/>
              <a:tabLst>
                <a:tab pos="9144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bookkeeping constraint to track the volume harvested during each decade</a:t>
            </a:r>
            <a:endParaRPr lang="en-US" sz="16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buFont typeface="+mj-lt"/>
              <a:buAutoNum type="alphaLcPeriod"/>
              <a:tabLst>
                <a:tab pos="9144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non-declining even-flow constraints for timber harvesting</a:t>
            </a:r>
            <a:endParaRPr lang="en-US" sz="16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buFont typeface="+mj-lt"/>
              <a:buAutoNum type="alphaLcPeriod"/>
              <a:tabLst>
                <a:tab pos="91440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non-negativity constraints for all decision variables</a:t>
            </a:r>
            <a:endParaRPr lang="en-US" sz="16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3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31CD-1B9E-D439-3787-685134DD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67000"/>
            <a:ext cx="7313612" cy="1143000"/>
          </a:xfrm>
        </p:spPr>
        <p:txBody>
          <a:bodyPr/>
          <a:lstStyle/>
          <a:p>
            <a:r>
              <a:rPr lang="en-US" dirty="0"/>
              <a:t>Let’s look at the Excel together</a:t>
            </a:r>
          </a:p>
        </p:txBody>
      </p:sp>
    </p:spTree>
    <p:extLst>
      <p:ext uri="{BB962C8B-B14F-4D97-AF65-F5344CB8AC3E}">
        <p14:creationId xmlns:p14="http://schemas.microsoft.com/office/powerpoint/2010/main" val="1958111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>
            <a:extLst>
              <a:ext uri="{FF2B5EF4-FFF2-40B4-BE49-F238E27FC236}">
                <a16:creationId xmlns:a16="http://schemas.microsoft.com/office/drawing/2014/main" id="{50C6AD41-093D-6EE5-D233-0C64846191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032250"/>
          <a:ext cx="8228013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28555" imgH="2523569" progId="Word.Document.12">
                  <p:embed/>
                </p:oleObj>
              </mc:Choice>
              <mc:Fallback>
                <p:oleObj name="Document" r:id="rId2" imgW="8228555" imgH="2523569" progId="Word.Document.12">
                  <p:embed/>
                  <p:pic>
                    <p:nvPicPr>
                      <p:cNvPr id="13314" name="Object 5">
                        <a:extLst>
                          <a:ext uri="{FF2B5EF4-FFF2-40B4-BE49-F238E27FC236}">
                            <a16:creationId xmlns:a16="http://schemas.microsoft.com/office/drawing/2014/main" id="{50C6AD41-093D-6EE5-D233-0C64846191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32250"/>
                        <a:ext cx="8228013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5" name="Rectangle 6">
            <a:extLst>
              <a:ext uri="{FF2B5EF4-FFF2-40B4-BE49-F238E27FC236}">
                <a16:creationId xmlns:a16="http://schemas.microsoft.com/office/drawing/2014/main" id="{147846C0-F6D7-4269-59C6-EF42798D3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8991600" cy="3140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Model I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 Decision variables for each land management unit each represent a management option for the unit over the entire planning horizon.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 Decision variables for the formulation take the form:  	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18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= # of land units of management unit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assigned to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 prescription for stand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 If rotation lengths can be short and the planning horizon is long, the number of decision variables for a single management unit can be quite large. Some systematic way of specifying the options is needed.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4. Tables like the following are often used to describe the decision variables. In this example the minimum rotation length is two periods. Each "H" in the table represents a final harvest or the end of one rotation. Thinning options are not considered in this example.    </a:t>
            </a:r>
            <a:endParaRPr lang="en-US" altLang="en-US" sz="1800">
              <a:latin typeface="ESRI Conservation" pitchFamily="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5">
            <a:extLst>
              <a:ext uri="{FF2B5EF4-FFF2-40B4-BE49-F238E27FC236}">
                <a16:creationId xmlns:a16="http://schemas.microsoft.com/office/drawing/2014/main" id="{B0EE1415-F845-3104-843A-2314D7ADD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032250"/>
          <a:ext cx="8228013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28555" imgH="2523569" progId="Word.Document.12">
                  <p:embed/>
                </p:oleObj>
              </mc:Choice>
              <mc:Fallback>
                <p:oleObj name="Document" r:id="rId2" imgW="8228555" imgH="2523569" progId="Word.Document.12">
                  <p:embed/>
                  <p:pic>
                    <p:nvPicPr>
                      <p:cNvPr id="14338" name="Object 5">
                        <a:extLst>
                          <a:ext uri="{FF2B5EF4-FFF2-40B4-BE49-F238E27FC236}">
                            <a16:creationId xmlns:a16="http://schemas.microsoft.com/office/drawing/2014/main" id="{B0EE1415-F845-3104-843A-2314D7ADD2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032250"/>
                        <a:ext cx="8228013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5">
            <a:extLst>
              <a:ext uri="{FF2B5EF4-FFF2-40B4-BE49-F238E27FC236}">
                <a16:creationId xmlns:a16="http://schemas.microsoft.com/office/drawing/2014/main" id="{04D21D7D-BFD9-E7F6-07D9-3D784D346B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438" y="762000"/>
          <a:ext cx="8228012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228555" imgH="2523569" progId="Word.Document.12">
                  <p:embed/>
                </p:oleObj>
              </mc:Choice>
              <mc:Fallback>
                <p:oleObj name="Document" r:id="rId2" imgW="8228555" imgH="2523569" progId="Word.Document.12">
                  <p:embed/>
                  <p:pic>
                    <p:nvPicPr>
                      <p:cNvPr id="14339" name="Object 5">
                        <a:extLst>
                          <a:ext uri="{FF2B5EF4-FFF2-40B4-BE49-F238E27FC236}">
                            <a16:creationId xmlns:a16="http://schemas.microsoft.com/office/drawing/2014/main" id="{04D21D7D-BFD9-E7F6-07D9-3D784D346B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762000"/>
                        <a:ext cx="8228012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954526-FF49-E9CC-9A86-44CDCAA5332F}"/>
              </a:ext>
            </a:extLst>
          </p:cNvPr>
          <p:cNvSpPr txBox="1"/>
          <p:nvPr/>
        </p:nvSpPr>
        <p:spPr>
          <a:xfrm>
            <a:off x="1066800" y="838200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1,1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93BB8-AC04-E631-511F-A8F961B4E945}"/>
              </a:ext>
            </a:extLst>
          </p:cNvPr>
          <p:cNvSpPr txBox="1"/>
          <p:nvPr/>
        </p:nvSpPr>
        <p:spPr>
          <a:xfrm>
            <a:off x="8288338" y="838200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1,21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72A4C-CCCA-4B2A-F517-5121D1360F1D}"/>
              </a:ext>
            </a:extLst>
          </p:cNvPr>
          <p:cNvSpPr txBox="1"/>
          <p:nvPr/>
        </p:nvSpPr>
        <p:spPr>
          <a:xfrm>
            <a:off x="2986088" y="838200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1,7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47AB3-3AC7-85E0-C6B1-0EE8BE5BBF5D}"/>
              </a:ext>
            </a:extLst>
          </p:cNvPr>
          <p:cNvSpPr txBox="1"/>
          <p:nvPr/>
        </p:nvSpPr>
        <p:spPr>
          <a:xfrm>
            <a:off x="2330450" y="838200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1,5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2B100-456F-91B2-92D4-0E6EB898FFD4}"/>
              </a:ext>
            </a:extLst>
          </p:cNvPr>
          <p:cNvSpPr txBox="1"/>
          <p:nvPr/>
        </p:nvSpPr>
        <p:spPr>
          <a:xfrm>
            <a:off x="1066800" y="4129088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2,1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ED311F-66C8-EDB1-FECF-2FB7D4159219}"/>
              </a:ext>
            </a:extLst>
          </p:cNvPr>
          <p:cNvSpPr txBox="1"/>
          <p:nvPr/>
        </p:nvSpPr>
        <p:spPr>
          <a:xfrm>
            <a:off x="8229600" y="4129088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2,21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3BE852-3179-8757-6A77-D824500F5B6B}"/>
              </a:ext>
            </a:extLst>
          </p:cNvPr>
          <p:cNvSpPr txBox="1"/>
          <p:nvPr/>
        </p:nvSpPr>
        <p:spPr>
          <a:xfrm>
            <a:off x="2986088" y="4129088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2,7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CA5B3-7FB3-519F-8F6D-E6C839DAEE11}"/>
              </a:ext>
            </a:extLst>
          </p:cNvPr>
          <p:cNvSpPr txBox="1"/>
          <p:nvPr/>
        </p:nvSpPr>
        <p:spPr>
          <a:xfrm>
            <a:off x="2309813" y="4143375"/>
            <a:ext cx="457200" cy="254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solidFill>
                  <a:srgbClr val="FF0000"/>
                </a:solidFill>
              </a:rPr>
              <a:t>X</a:t>
            </a:r>
            <a:r>
              <a:rPr lang="en-US" sz="600" dirty="0">
                <a:solidFill>
                  <a:srgbClr val="FF0000"/>
                </a:solidFill>
              </a:rPr>
              <a:t>2,5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4E75397-8267-A731-4130-6C9D1276C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313613" cy="838200"/>
          </a:xfrm>
        </p:spPr>
        <p:txBody>
          <a:bodyPr/>
          <a:lstStyle/>
          <a:p>
            <a:pPr eaLnBrk="1" hangingPunct="1"/>
            <a:r>
              <a:rPr lang="en-US" altLang="en-US" sz="3200" b="1">
                <a:ea typeface="ＭＳ Ｐゴシック" panose="020B0600070205080204" pitchFamily="34" charset="-128"/>
              </a:rPr>
              <a:t>A Model I example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2D71A2B-B840-10C8-1742-9A84DACAE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226425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Suppose we have two forest management units </a:t>
            </a:r>
            <a:r>
              <a:rPr lang="en-US" altLang="zh-CN" sz="2000" b="1" dirty="0">
                <a:latin typeface="+mj-lt"/>
                <a:ea typeface="宋体" panose="02010600030101010101" pitchFamily="2" charset="-122"/>
              </a:rPr>
              <a:t>a </a:t>
            </a: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and</a:t>
            </a:r>
            <a:r>
              <a:rPr lang="en-US" altLang="zh-CN" sz="2000" b="1" dirty="0">
                <a:latin typeface="+mj-lt"/>
                <a:ea typeface="宋体" panose="02010600030101010101" pitchFamily="2" charset="-122"/>
              </a:rPr>
              <a:t> b</a:t>
            </a: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 in a ponderosa pine forest.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Stand </a:t>
            </a:r>
            <a:r>
              <a:rPr lang="en-US" altLang="zh-CN" sz="2000" b="1" i="1" dirty="0">
                <a:latin typeface="+mj-lt"/>
                <a:ea typeface="宋体" panose="02010600030101010101" pitchFamily="2" charset="-122"/>
              </a:rPr>
              <a:t>a</a:t>
            </a: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 is currently at age class 3 (median age 25) and poorly stocked; b is fully stocked and at age class 4 (median age 35).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 err="1">
                <a:latin typeface="+mj-lt"/>
                <a:ea typeface="宋体" panose="02010600030101010101" pitchFamily="2" charset="-122"/>
              </a:rPr>
              <a:t>Clearcut</a:t>
            </a: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 will be scheduled at middle of a period followed by immediate regeneration.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Forest age will be tallied at the end of a period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A 60-year planning horizon was divided into six 10-yr planning periods.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For unit a: the youngest (oldest) age to cut during the planning horizon is 40 (60) years; do nothing option is also available.</a:t>
            </a:r>
            <a:endParaRPr lang="en-US" altLang="zh-CN" sz="2000" b="1" i="1" dirty="0">
              <a:latin typeface="+mj-lt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000" dirty="0">
                <a:latin typeface="+mj-lt"/>
                <a:ea typeface="宋体" panose="02010600030101010101" pitchFamily="2" charset="-122"/>
              </a:rPr>
              <a:t>For unit b: the youngest (oldest) age to cut during the planning horizon is 40 (50) years; do nothing option is also available.</a:t>
            </a:r>
            <a:endParaRPr lang="en-US" altLang="zh-CN" sz="2000" b="1" i="1" dirty="0">
              <a:latin typeface="+mj-lt"/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000" dirty="0">
                <a:latin typeface="+mj-lt"/>
                <a:ea typeface="ＭＳ Ｐゴシック" panose="020B0600070205080204" pitchFamily="34" charset="-128"/>
              </a:rPr>
              <a:t>Both stands will be managed under a 50-year rotation after the last cut within the planning horizon.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3">
            <a:extLst>
              <a:ext uri="{FF2B5EF4-FFF2-40B4-BE49-F238E27FC236}">
                <a16:creationId xmlns:a16="http://schemas.microsoft.com/office/drawing/2014/main" id="{4471304A-A146-6664-0148-D8C865FF9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31242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Line 4">
            <a:extLst>
              <a:ext uri="{FF2B5EF4-FFF2-40B4-BE49-F238E27FC236}">
                <a16:creationId xmlns:a16="http://schemas.microsoft.com/office/drawing/2014/main" id="{F449F6CC-F396-CEC2-AFEF-DCB35CD21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6482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2" name="Line 5">
            <a:extLst>
              <a:ext uri="{FF2B5EF4-FFF2-40B4-BE49-F238E27FC236}">
                <a16:creationId xmlns:a16="http://schemas.microsoft.com/office/drawing/2014/main" id="{D08F44FA-1837-5BD2-7064-6EAFABBD1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1722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Line 6">
            <a:extLst>
              <a:ext uri="{FF2B5EF4-FFF2-40B4-BE49-F238E27FC236}">
                <a16:creationId xmlns:a16="http://schemas.microsoft.com/office/drawing/2014/main" id="{22D600AB-81F6-E59C-FCD8-3F0EC6B24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4" name="Line 7">
            <a:extLst>
              <a:ext uri="{FF2B5EF4-FFF2-40B4-BE49-F238E27FC236}">
                <a16:creationId xmlns:a16="http://schemas.microsoft.com/office/drawing/2014/main" id="{193E30F1-6BE3-CE7E-B252-69429CCA2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839CAD6F-91CC-EE83-090B-188BC2778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6" name="Text Box 9">
            <a:extLst>
              <a:ext uri="{FF2B5EF4-FFF2-40B4-BE49-F238E27FC236}">
                <a16:creationId xmlns:a16="http://schemas.microsoft.com/office/drawing/2014/main" id="{A70BC856-516E-1664-5A76-82221B60B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2860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17" name="Line 10">
            <a:extLst>
              <a:ext uri="{FF2B5EF4-FFF2-40B4-BE49-F238E27FC236}">
                <a16:creationId xmlns:a16="http://schemas.microsoft.com/office/drawing/2014/main" id="{73EFB0A7-DED6-FD17-78F3-22C904FEC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Text Box 11">
            <a:extLst>
              <a:ext uri="{FF2B5EF4-FFF2-40B4-BE49-F238E27FC236}">
                <a16:creationId xmlns:a16="http://schemas.microsoft.com/office/drawing/2014/main" id="{4D2984B5-50F8-5FBA-8F27-E0F7782EB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86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7419" name="Line 12">
            <a:extLst>
              <a:ext uri="{FF2B5EF4-FFF2-40B4-BE49-F238E27FC236}">
                <a16:creationId xmlns:a16="http://schemas.microsoft.com/office/drawing/2014/main" id="{676A1A65-D1AA-9EFF-8078-5E3ABAAEA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0" name="Text Box 13">
            <a:extLst>
              <a:ext uri="{FF2B5EF4-FFF2-40B4-BE49-F238E27FC236}">
                <a16:creationId xmlns:a16="http://schemas.microsoft.com/office/drawing/2014/main" id="{4C529E62-9A88-A8CC-17DD-41EAA6A57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7421" name="Line 14">
            <a:extLst>
              <a:ext uri="{FF2B5EF4-FFF2-40B4-BE49-F238E27FC236}">
                <a16:creationId xmlns:a16="http://schemas.microsoft.com/office/drawing/2014/main" id="{576D62D5-B0D6-5929-7F2A-7EFA43A16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2" name="Text Box 15">
            <a:extLst>
              <a:ext uri="{FF2B5EF4-FFF2-40B4-BE49-F238E27FC236}">
                <a16:creationId xmlns:a16="http://schemas.microsoft.com/office/drawing/2014/main" id="{FDD738BC-55CA-BC83-3ACB-8DB59A850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7423" name="Line 16">
            <a:extLst>
              <a:ext uri="{FF2B5EF4-FFF2-40B4-BE49-F238E27FC236}">
                <a16:creationId xmlns:a16="http://schemas.microsoft.com/office/drawing/2014/main" id="{05C4C0F9-41AB-AFE4-627B-D6BF0BBB2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4" name="Text Box 17">
            <a:extLst>
              <a:ext uri="{FF2B5EF4-FFF2-40B4-BE49-F238E27FC236}">
                <a16:creationId xmlns:a16="http://schemas.microsoft.com/office/drawing/2014/main" id="{ACCCDE1A-F629-F41A-4B04-51254287B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7425" name="Line 18">
            <a:extLst>
              <a:ext uri="{FF2B5EF4-FFF2-40B4-BE49-F238E27FC236}">
                <a16:creationId xmlns:a16="http://schemas.microsoft.com/office/drawing/2014/main" id="{821F20FE-CFDD-7FD0-AD30-528EF8A33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Text Box 19">
            <a:extLst>
              <a:ext uri="{FF2B5EF4-FFF2-40B4-BE49-F238E27FC236}">
                <a16:creationId xmlns:a16="http://schemas.microsoft.com/office/drawing/2014/main" id="{DBF86C5C-AFA0-B5D0-0A63-229488E023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7427" name="AutoShape 20">
            <a:extLst>
              <a:ext uri="{FF2B5EF4-FFF2-40B4-BE49-F238E27FC236}">
                <a16:creationId xmlns:a16="http://schemas.microsoft.com/office/drawing/2014/main" id="{2FA1EB47-62D4-8C43-1F07-81B67195A9FC}"/>
              </a:ext>
            </a:extLst>
          </p:cNvPr>
          <p:cNvSpPr>
            <a:spLocks/>
          </p:cNvSpPr>
          <p:nvPr/>
        </p:nvSpPr>
        <p:spPr bwMode="auto">
          <a:xfrm rot="-5400000">
            <a:off x="5105400" y="2209800"/>
            <a:ext cx="457200" cy="2286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28" name="Line 23">
            <a:extLst>
              <a:ext uri="{FF2B5EF4-FFF2-40B4-BE49-F238E27FC236}">
                <a16:creationId xmlns:a16="http://schemas.microsoft.com/office/drawing/2014/main" id="{71C3A6D2-8D3B-977A-227B-73124712ED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Text Box 24">
            <a:extLst>
              <a:ext uri="{FF2B5EF4-FFF2-40B4-BE49-F238E27FC236}">
                <a16:creationId xmlns:a16="http://schemas.microsoft.com/office/drawing/2014/main" id="{32265BC2-9271-5B98-68E8-0D5D7B35A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8862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30" name="Line 25">
            <a:extLst>
              <a:ext uri="{FF2B5EF4-FFF2-40B4-BE49-F238E27FC236}">
                <a16:creationId xmlns:a16="http://schemas.microsoft.com/office/drawing/2014/main" id="{7AC1AFAF-8E2C-7E59-62FD-2C3FF3738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1" name="Text Box 26">
            <a:extLst>
              <a:ext uri="{FF2B5EF4-FFF2-40B4-BE49-F238E27FC236}">
                <a16:creationId xmlns:a16="http://schemas.microsoft.com/office/drawing/2014/main" id="{6A6A3199-C904-89AF-4BA3-10FC7C89F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8862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7432" name="Line 27">
            <a:extLst>
              <a:ext uri="{FF2B5EF4-FFF2-40B4-BE49-F238E27FC236}">
                <a16:creationId xmlns:a16="http://schemas.microsoft.com/office/drawing/2014/main" id="{92B830B1-2942-5012-CFBA-FEB404809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3" name="Text Box 28">
            <a:extLst>
              <a:ext uri="{FF2B5EF4-FFF2-40B4-BE49-F238E27FC236}">
                <a16:creationId xmlns:a16="http://schemas.microsoft.com/office/drawing/2014/main" id="{D8DBF1C4-704D-68AA-E371-34662390C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7434" name="Line 29">
            <a:extLst>
              <a:ext uri="{FF2B5EF4-FFF2-40B4-BE49-F238E27FC236}">
                <a16:creationId xmlns:a16="http://schemas.microsoft.com/office/drawing/2014/main" id="{85279070-6D54-7E36-7413-4B86B7490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Text Box 30">
            <a:extLst>
              <a:ext uri="{FF2B5EF4-FFF2-40B4-BE49-F238E27FC236}">
                <a16:creationId xmlns:a16="http://schemas.microsoft.com/office/drawing/2014/main" id="{E58030F9-BE7F-4C7D-49B5-CD5458CEC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7436" name="Line 31">
            <a:extLst>
              <a:ext uri="{FF2B5EF4-FFF2-40B4-BE49-F238E27FC236}">
                <a16:creationId xmlns:a16="http://schemas.microsoft.com/office/drawing/2014/main" id="{C7A02492-5C75-E68A-8F07-ED4672159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7" name="Text Box 32">
            <a:extLst>
              <a:ext uri="{FF2B5EF4-FFF2-40B4-BE49-F238E27FC236}">
                <a16:creationId xmlns:a16="http://schemas.microsoft.com/office/drawing/2014/main" id="{66C1F1D4-316A-EF5F-82A5-79E8B64D7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7438" name="Line 33">
            <a:extLst>
              <a:ext uri="{FF2B5EF4-FFF2-40B4-BE49-F238E27FC236}">
                <a16:creationId xmlns:a16="http://schemas.microsoft.com/office/drawing/2014/main" id="{4AE9446B-FECF-641B-A96D-926FD3885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9" name="Text Box 34">
            <a:extLst>
              <a:ext uri="{FF2B5EF4-FFF2-40B4-BE49-F238E27FC236}">
                <a16:creationId xmlns:a16="http://schemas.microsoft.com/office/drawing/2014/main" id="{679581E7-6BED-03D0-10FD-C75E29A02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7440" name="AutoShape 36">
            <a:extLst>
              <a:ext uri="{FF2B5EF4-FFF2-40B4-BE49-F238E27FC236}">
                <a16:creationId xmlns:a16="http://schemas.microsoft.com/office/drawing/2014/main" id="{2F5F5319-53D9-54AB-5C3D-ACA67B591390}"/>
              </a:ext>
            </a:extLst>
          </p:cNvPr>
          <p:cNvSpPr>
            <a:spLocks/>
          </p:cNvSpPr>
          <p:nvPr/>
        </p:nvSpPr>
        <p:spPr bwMode="auto">
          <a:xfrm rot="-5400000">
            <a:off x="2933700" y="2324100"/>
            <a:ext cx="457200" cy="20574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41" name="AutoShape 37">
            <a:extLst>
              <a:ext uri="{FF2B5EF4-FFF2-40B4-BE49-F238E27FC236}">
                <a16:creationId xmlns:a16="http://schemas.microsoft.com/office/drawing/2014/main" id="{B5D2A723-7019-05F2-4896-76DE1FA67829}"/>
              </a:ext>
            </a:extLst>
          </p:cNvPr>
          <p:cNvSpPr>
            <a:spLocks/>
          </p:cNvSpPr>
          <p:nvPr/>
        </p:nvSpPr>
        <p:spPr bwMode="auto">
          <a:xfrm rot="-5400000">
            <a:off x="3200400" y="3581400"/>
            <a:ext cx="457200" cy="2590800"/>
          </a:xfrm>
          <a:prstGeom prst="leftBrace">
            <a:avLst>
              <a:gd name="adj1" fmla="val 47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42" name="Rectangle 39">
            <a:extLst>
              <a:ext uri="{FF2B5EF4-FFF2-40B4-BE49-F238E27FC236}">
                <a16:creationId xmlns:a16="http://schemas.microsoft.com/office/drawing/2014/main" id="{4FCBC8AD-8D8C-46AE-8F2C-854C64C7E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81000"/>
            <a:ext cx="3429000" cy="6400800"/>
          </a:xfrm>
          <a:prstGeom prst="rect">
            <a:avLst/>
          </a:prstGeom>
          <a:solidFill>
            <a:srgbClr val="CC99FF">
              <a:alpha val="784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43" name="Line 40">
            <a:extLst>
              <a:ext uri="{FF2B5EF4-FFF2-40B4-BE49-F238E27FC236}">
                <a16:creationId xmlns:a16="http://schemas.microsoft.com/office/drawing/2014/main" id="{F334D229-46E3-FFBE-ED9F-FE496CB50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4" name="Line 41">
            <a:extLst>
              <a:ext uri="{FF2B5EF4-FFF2-40B4-BE49-F238E27FC236}">
                <a16:creationId xmlns:a16="http://schemas.microsoft.com/office/drawing/2014/main" id="{761026CC-5084-2086-8251-4322CFB66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5" name="Text Box 42">
            <a:extLst>
              <a:ext uri="{FF2B5EF4-FFF2-40B4-BE49-F238E27FC236}">
                <a16:creationId xmlns:a16="http://schemas.microsoft.com/office/drawing/2014/main" id="{74C33AA6-94E7-8474-4161-C209DAB3F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4102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6" name="Line 43">
            <a:extLst>
              <a:ext uri="{FF2B5EF4-FFF2-40B4-BE49-F238E27FC236}">
                <a16:creationId xmlns:a16="http://schemas.microsoft.com/office/drawing/2014/main" id="{D671A02E-4CD2-0132-9DA2-6B9BD58C0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7" name="Text Box 44">
            <a:extLst>
              <a:ext uri="{FF2B5EF4-FFF2-40B4-BE49-F238E27FC236}">
                <a16:creationId xmlns:a16="http://schemas.microsoft.com/office/drawing/2014/main" id="{91AB137B-4628-5749-E1D0-C7AEA59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4102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7448" name="Line 45">
            <a:extLst>
              <a:ext uri="{FF2B5EF4-FFF2-40B4-BE49-F238E27FC236}">
                <a16:creationId xmlns:a16="http://schemas.microsoft.com/office/drawing/2014/main" id="{5BD85704-9134-2C70-EBCC-2CA5FD50EA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49" name="Text Box 46">
            <a:extLst>
              <a:ext uri="{FF2B5EF4-FFF2-40B4-BE49-F238E27FC236}">
                <a16:creationId xmlns:a16="http://schemas.microsoft.com/office/drawing/2014/main" id="{908682BB-7A75-A602-F8E3-C2F9AE767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7450" name="Line 47">
            <a:extLst>
              <a:ext uri="{FF2B5EF4-FFF2-40B4-BE49-F238E27FC236}">
                <a16:creationId xmlns:a16="http://schemas.microsoft.com/office/drawing/2014/main" id="{76C2F975-006D-FAB5-9118-962938D65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1" name="Text Box 48">
            <a:extLst>
              <a:ext uri="{FF2B5EF4-FFF2-40B4-BE49-F238E27FC236}">
                <a16:creationId xmlns:a16="http://schemas.microsoft.com/office/drawing/2014/main" id="{E85FF2E5-5D88-79E2-97D0-95E88EFEC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7452" name="Line 49">
            <a:extLst>
              <a:ext uri="{FF2B5EF4-FFF2-40B4-BE49-F238E27FC236}">
                <a16:creationId xmlns:a16="http://schemas.microsoft.com/office/drawing/2014/main" id="{637B0043-46EE-B9D8-CAC1-18FAA1BEB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3" name="Text Box 50">
            <a:extLst>
              <a:ext uri="{FF2B5EF4-FFF2-40B4-BE49-F238E27FC236}">
                <a16:creationId xmlns:a16="http://schemas.microsoft.com/office/drawing/2014/main" id="{12D52636-5761-7590-36C3-A64B5A19C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7454" name="Line 51">
            <a:extLst>
              <a:ext uri="{FF2B5EF4-FFF2-40B4-BE49-F238E27FC236}">
                <a16:creationId xmlns:a16="http://schemas.microsoft.com/office/drawing/2014/main" id="{E90E88AE-F99A-DBA9-AC01-304A538BEA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5" name="Text Box 52">
            <a:extLst>
              <a:ext uri="{FF2B5EF4-FFF2-40B4-BE49-F238E27FC236}">
                <a16:creationId xmlns:a16="http://schemas.microsoft.com/office/drawing/2014/main" id="{0E46EDC6-0A4E-D3C9-7D20-E17BA467A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7456" name="AutoShape 53">
            <a:extLst>
              <a:ext uri="{FF2B5EF4-FFF2-40B4-BE49-F238E27FC236}">
                <a16:creationId xmlns:a16="http://schemas.microsoft.com/office/drawing/2014/main" id="{9C2B941B-FF93-450A-72B1-8E53F500CA2D}"/>
              </a:ext>
            </a:extLst>
          </p:cNvPr>
          <p:cNvSpPr>
            <a:spLocks/>
          </p:cNvSpPr>
          <p:nvPr/>
        </p:nvSpPr>
        <p:spPr bwMode="auto">
          <a:xfrm rot="-5400000">
            <a:off x="3467100" y="4838700"/>
            <a:ext cx="457200" cy="3124200"/>
          </a:xfrm>
          <a:prstGeom prst="leftBrace">
            <a:avLst>
              <a:gd name="adj1" fmla="val 56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7457" name="Line 3">
            <a:extLst>
              <a:ext uri="{FF2B5EF4-FFF2-40B4-BE49-F238E27FC236}">
                <a16:creationId xmlns:a16="http://schemas.microsoft.com/office/drawing/2014/main" id="{4117F823-6A73-9A08-7397-809D16324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5240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8" name="Line 6">
            <a:extLst>
              <a:ext uri="{FF2B5EF4-FFF2-40B4-BE49-F238E27FC236}">
                <a16:creationId xmlns:a16="http://schemas.microsoft.com/office/drawing/2014/main" id="{B27DF2A0-A963-62C5-1C3F-2E63FC949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59" name="Text Box 9">
            <a:extLst>
              <a:ext uri="{FF2B5EF4-FFF2-40B4-BE49-F238E27FC236}">
                <a16:creationId xmlns:a16="http://schemas.microsoft.com/office/drawing/2014/main" id="{B3C1DC36-83C1-60D8-5082-1BC08D811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858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60" name="Line 10">
            <a:extLst>
              <a:ext uri="{FF2B5EF4-FFF2-40B4-BE49-F238E27FC236}">
                <a16:creationId xmlns:a16="http://schemas.microsoft.com/office/drawing/2014/main" id="{8E35D1F8-D2AE-BF14-D320-E37EDD54A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1" name="Text Box 11">
            <a:extLst>
              <a:ext uri="{FF2B5EF4-FFF2-40B4-BE49-F238E27FC236}">
                <a16:creationId xmlns:a16="http://schemas.microsoft.com/office/drawing/2014/main" id="{464364F5-DE5E-EBDE-2E44-1A589047C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6858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7462" name="Line 12">
            <a:extLst>
              <a:ext uri="{FF2B5EF4-FFF2-40B4-BE49-F238E27FC236}">
                <a16:creationId xmlns:a16="http://schemas.microsoft.com/office/drawing/2014/main" id="{F9C397D8-732B-0D46-45E4-D16B62232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3" name="Text Box 13">
            <a:extLst>
              <a:ext uri="{FF2B5EF4-FFF2-40B4-BE49-F238E27FC236}">
                <a16:creationId xmlns:a16="http://schemas.microsoft.com/office/drawing/2014/main" id="{3B7D2F99-78BC-47F6-C6A4-9FC7DDD51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7464" name="Line 14">
            <a:extLst>
              <a:ext uri="{FF2B5EF4-FFF2-40B4-BE49-F238E27FC236}">
                <a16:creationId xmlns:a16="http://schemas.microsoft.com/office/drawing/2014/main" id="{551D019A-6598-7812-C5AA-113425E39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5" name="Text Box 15">
            <a:extLst>
              <a:ext uri="{FF2B5EF4-FFF2-40B4-BE49-F238E27FC236}">
                <a16:creationId xmlns:a16="http://schemas.microsoft.com/office/drawing/2014/main" id="{14E3326B-0F31-3389-746C-A9B1A112E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7466" name="Line 16">
            <a:extLst>
              <a:ext uri="{FF2B5EF4-FFF2-40B4-BE49-F238E27FC236}">
                <a16:creationId xmlns:a16="http://schemas.microsoft.com/office/drawing/2014/main" id="{851FF447-551B-FEB4-CF15-533BC9103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7" name="Text Box 17">
            <a:extLst>
              <a:ext uri="{FF2B5EF4-FFF2-40B4-BE49-F238E27FC236}">
                <a16:creationId xmlns:a16="http://schemas.microsoft.com/office/drawing/2014/main" id="{0577B063-6FD9-93B0-98C0-47046951A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7468" name="Line 18">
            <a:extLst>
              <a:ext uri="{FF2B5EF4-FFF2-40B4-BE49-F238E27FC236}">
                <a16:creationId xmlns:a16="http://schemas.microsoft.com/office/drawing/2014/main" id="{122CD8B9-4E58-019E-2675-002F87301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9" name="Text Box 19">
            <a:extLst>
              <a:ext uri="{FF2B5EF4-FFF2-40B4-BE49-F238E27FC236}">
                <a16:creationId xmlns:a16="http://schemas.microsoft.com/office/drawing/2014/main" id="{CEA93494-C651-EBD8-B1C9-9C4FB20AC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7470" name="AutoShape 36">
            <a:extLst>
              <a:ext uri="{FF2B5EF4-FFF2-40B4-BE49-F238E27FC236}">
                <a16:creationId xmlns:a16="http://schemas.microsoft.com/office/drawing/2014/main" id="{2024ACEE-17B5-0399-BFFC-297E01846881}"/>
              </a:ext>
            </a:extLst>
          </p:cNvPr>
          <p:cNvSpPr>
            <a:spLocks/>
          </p:cNvSpPr>
          <p:nvPr/>
        </p:nvSpPr>
        <p:spPr bwMode="auto">
          <a:xfrm rot="-5400000">
            <a:off x="2933700" y="723900"/>
            <a:ext cx="457200" cy="20574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7471" name="Straight Connector 2">
            <a:extLst>
              <a:ext uri="{FF2B5EF4-FFF2-40B4-BE49-F238E27FC236}">
                <a16:creationId xmlns:a16="http://schemas.microsoft.com/office/drawing/2014/main" id="{1E103BA7-9EDA-56C3-6BDA-E4439E735CF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86200" y="3810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2" name="Straight Connector 74">
            <a:extLst>
              <a:ext uri="{FF2B5EF4-FFF2-40B4-BE49-F238E27FC236}">
                <a16:creationId xmlns:a16="http://schemas.microsoft.com/office/drawing/2014/main" id="{F2EEED31-CA74-A170-A98B-65D799D00C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59288" y="3810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3" name="Straight Connector 75">
            <a:extLst>
              <a:ext uri="{FF2B5EF4-FFF2-40B4-BE49-F238E27FC236}">
                <a16:creationId xmlns:a16="http://schemas.microsoft.com/office/drawing/2014/main" id="{88AC44C3-60D3-A68A-5FE4-2766704BC1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89513" y="414338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4" name="Straight Connector 76">
            <a:extLst>
              <a:ext uri="{FF2B5EF4-FFF2-40B4-BE49-F238E27FC236}">
                <a16:creationId xmlns:a16="http://schemas.microsoft.com/office/drawing/2014/main" id="{657222CD-05BF-6D09-138C-FE4CD9933B1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2600" y="3810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5" name="Straight Connector 77">
            <a:extLst>
              <a:ext uri="{FF2B5EF4-FFF2-40B4-BE49-F238E27FC236}">
                <a16:creationId xmlns:a16="http://schemas.microsoft.com/office/drawing/2014/main" id="{9EDE98F4-5893-932E-CBB4-D2ABC2BAA0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72200" y="360363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76" name="Straight Connector 78">
            <a:extLst>
              <a:ext uri="{FF2B5EF4-FFF2-40B4-BE49-F238E27FC236}">
                <a16:creationId xmlns:a16="http://schemas.microsoft.com/office/drawing/2014/main" id="{D8110B79-B0E8-B404-50B8-43ACB70418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705600" y="360363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77" name="TextBox 3">
            <a:extLst>
              <a:ext uri="{FF2B5EF4-FFF2-40B4-BE49-F238E27FC236}">
                <a16:creationId xmlns:a16="http://schemas.microsoft.com/office/drawing/2014/main" id="{13F6144D-7E5D-26D6-678C-3AF420ACA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-15875"/>
            <a:ext cx="517525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3">
            <a:extLst>
              <a:ext uri="{FF2B5EF4-FFF2-40B4-BE49-F238E27FC236}">
                <a16:creationId xmlns:a16="http://schemas.microsoft.com/office/drawing/2014/main" id="{B65D5EBC-47D0-B66A-03CD-D86CA7FA7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31242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Line 4">
            <a:extLst>
              <a:ext uri="{FF2B5EF4-FFF2-40B4-BE49-F238E27FC236}">
                <a16:creationId xmlns:a16="http://schemas.microsoft.com/office/drawing/2014/main" id="{29D24B4D-0303-B213-11CB-B89D778BDC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46482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Line 5">
            <a:extLst>
              <a:ext uri="{FF2B5EF4-FFF2-40B4-BE49-F238E27FC236}">
                <a16:creationId xmlns:a16="http://schemas.microsoft.com/office/drawing/2014/main" id="{89A4B4CB-3C89-AB12-3822-F64B1DDC0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61722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Line 6">
            <a:extLst>
              <a:ext uri="{FF2B5EF4-FFF2-40B4-BE49-F238E27FC236}">
                <a16:creationId xmlns:a16="http://schemas.microsoft.com/office/drawing/2014/main" id="{6CB2CA4F-94D5-2923-1E5B-42329148C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2" name="Line 7">
            <a:extLst>
              <a:ext uri="{FF2B5EF4-FFF2-40B4-BE49-F238E27FC236}">
                <a16:creationId xmlns:a16="http://schemas.microsoft.com/office/drawing/2014/main" id="{BF5ACDC2-ECEB-140D-BA0F-7A70D1C1E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Line 8">
            <a:extLst>
              <a:ext uri="{FF2B5EF4-FFF2-40B4-BE49-F238E27FC236}">
                <a16:creationId xmlns:a16="http://schemas.microsoft.com/office/drawing/2014/main" id="{7D34DF64-C7FC-2614-3D1A-A815DC325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4" name="Text Box 9">
            <a:extLst>
              <a:ext uri="{FF2B5EF4-FFF2-40B4-BE49-F238E27FC236}">
                <a16:creationId xmlns:a16="http://schemas.microsoft.com/office/drawing/2014/main" id="{19AFF8DF-6A9F-8A0B-9C97-D84E6904A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2860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465" name="Line 10">
            <a:extLst>
              <a:ext uri="{FF2B5EF4-FFF2-40B4-BE49-F238E27FC236}">
                <a16:creationId xmlns:a16="http://schemas.microsoft.com/office/drawing/2014/main" id="{7E30AF4E-339B-BD98-2017-E101E80C4C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6" name="Text Box 11">
            <a:extLst>
              <a:ext uri="{FF2B5EF4-FFF2-40B4-BE49-F238E27FC236}">
                <a16:creationId xmlns:a16="http://schemas.microsoft.com/office/drawing/2014/main" id="{C44B8ED3-0868-DF56-03BD-6F0B71B9F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22860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9467" name="Line 12">
            <a:extLst>
              <a:ext uri="{FF2B5EF4-FFF2-40B4-BE49-F238E27FC236}">
                <a16:creationId xmlns:a16="http://schemas.microsoft.com/office/drawing/2014/main" id="{AA2F7048-8457-4A0B-1416-C2F31FE107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Text Box 13">
            <a:extLst>
              <a:ext uri="{FF2B5EF4-FFF2-40B4-BE49-F238E27FC236}">
                <a16:creationId xmlns:a16="http://schemas.microsoft.com/office/drawing/2014/main" id="{498199E9-5227-6C76-6A0E-028E9644C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9469" name="Line 14">
            <a:extLst>
              <a:ext uri="{FF2B5EF4-FFF2-40B4-BE49-F238E27FC236}">
                <a16:creationId xmlns:a16="http://schemas.microsoft.com/office/drawing/2014/main" id="{D97E2E6E-9B76-574C-AFF3-ABCD0808D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0" name="Text Box 15">
            <a:extLst>
              <a:ext uri="{FF2B5EF4-FFF2-40B4-BE49-F238E27FC236}">
                <a16:creationId xmlns:a16="http://schemas.microsoft.com/office/drawing/2014/main" id="{D5B33A23-8FE7-4946-54FA-A90665C54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9471" name="Line 16">
            <a:extLst>
              <a:ext uri="{FF2B5EF4-FFF2-40B4-BE49-F238E27FC236}">
                <a16:creationId xmlns:a16="http://schemas.microsoft.com/office/drawing/2014/main" id="{4BF3BFF3-687A-1E52-F67E-E5D89D09E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2" name="Text Box 17">
            <a:extLst>
              <a:ext uri="{FF2B5EF4-FFF2-40B4-BE49-F238E27FC236}">
                <a16:creationId xmlns:a16="http://schemas.microsoft.com/office/drawing/2014/main" id="{3FA64C93-3791-1396-23AF-2C84E805A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9473" name="Line 18">
            <a:extLst>
              <a:ext uri="{FF2B5EF4-FFF2-40B4-BE49-F238E27FC236}">
                <a16:creationId xmlns:a16="http://schemas.microsoft.com/office/drawing/2014/main" id="{B2C30713-37FE-3F59-944D-C6A3A3388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819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Text Box 19">
            <a:extLst>
              <a:ext uri="{FF2B5EF4-FFF2-40B4-BE49-F238E27FC236}">
                <a16:creationId xmlns:a16="http://schemas.microsoft.com/office/drawing/2014/main" id="{EA2FD431-186B-0071-E2AF-CE9F16C68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86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9475" name="AutoShape 20">
            <a:extLst>
              <a:ext uri="{FF2B5EF4-FFF2-40B4-BE49-F238E27FC236}">
                <a16:creationId xmlns:a16="http://schemas.microsoft.com/office/drawing/2014/main" id="{6F025496-2BB9-3D91-9032-0F58F1EE2299}"/>
              </a:ext>
            </a:extLst>
          </p:cNvPr>
          <p:cNvSpPr>
            <a:spLocks/>
          </p:cNvSpPr>
          <p:nvPr/>
        </p:nvSpPr>
        <p:spPr bwMode="auto">
          <a:xfrm rot="-5400000">
            <a:off x="4724400" y="1912938"/>
            <a:ext cx="457200" cy="2895600"/>
          </a:xfrm>
          <a:prstGeom prst="leftBrace">
            <a:avLst>
              <a:gd name="adj1" fmla="val 4166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76" name="Line 23">
            <a:extLst>
              <a:ext uri="{FF2B5EF4-FFF2-40B4-BE49-F238E27FC236}">
                <a16:creationId xmlns:a16="http://schemas.microsoft.com/office/drawing/2014/main" id="{CDA5F33B-6D2B-AF8B-086D-EA18DADC3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7" name="Text Box 24">
            <a:extLst>
              <a:ext uri="{FF2B5EF4-FFF2-40B4-BE49-F238E27FC236}">
                <a16:creationId xmlns:a16="http://schemas.microsoft.com/office/drawing/2014/main" id="{553FAD0B-3280-845F-727B-510FE45A3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478" name="Line 25">
            <a:extLst>
              <a:ext uri="{FF2B5EF4-FFF2-40B4-BE49-F238E27FC236}">
                <a16:creationId xmlns:a16="http://schemas.microsoft.com/office/drawing/2014/main" id="{B601DD4E-DE4B-0A5B-CEA7-7FF183F1F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9" name="Text Box 26">
            <a:extLst>
              <a:ext uri="{FF2B5EF4-FFF2-40B4-BE49-F238E27FC236}">
                <a16:creationId xmlns:a16="http://schemas.microsoft.com/office/drawing/2014/main" id="{4808AC3E-642B-A327-F5E9-695611780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8862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9480" name="Line 27">
            <a:extLst>
              <a:ext uri="{FF2B5EF4-FFF2-40B4-BE49-F238E27FC236}">
                <a16:creationId xmlns:a16="http://schemas.microsoft.com/office/drawing/2014/main" id="{902E43C2-9858-8C66-1A80-6D32E15A7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Text Box 28">
            <a:extLst>
              <a:ext uri="{FF2B5EF4-FFF2-40B4-BE49-F238E27FC236}">
                <a16:creationId xmlns:a16="http://schemas.microsoft.com/office/drawing/2014/main" id="{38A81746-DF51-AD74-79BA-79F6D6160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9482" name="Line 29">
            <a:extLst>
              <a:ext uri="{FF2B5EF4-FFF2-40B4-BE49-F238E27FC236}">
                <a16:creationId xmlns:a16="http://schemas.microsoft.com/office/drawing/2014/main" id="{2957AEBD-24B7-7EBC-E2C4-4AF03F46B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Text Box 30">
            <a:extLst>
              <a:ext uri="{FF2B5EF4-FFF2-40B4-BE49-F238E27FC236}">
                <a16:creationId xmlns:a16="http://schemas.microsoft.com/office/drawing/2014/main" id="{505EDC89-7E62-ED4F-869E-28569EDF0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9484" name="Line 31">
            <a:extLst>
              <a:ext uri="{FF2B5EF4-FFF2-40B4-BE49-F238E27FC236}">
                <a16:creationId xmlns:a16="http://schemas.microsoft.com/office/drawing/2014/main" id="{5547BDDA-E696-B3FE-28C7-7801A55A3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5" name="Text Box 32">
            <a:extLst>
              <a:ext uri="{FF2B5EF4-FFF2-40B4-BE49-F238E27FC236}">
                <a16:creationId xmlns:a16="http://schemas.microsoft.com/office/drawing/2014/main" id="{CE7213E1-0E7B-5F1C-CD32-5A6CBCE7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9486" name="Line 33">
            <a:extLst>
              <a:ext uri="{FF2B5EF4-FFF2-40B4-BE49-F238E27FC236}">
                <a16:creationId xmlns:a16="http://schemas.microsoft.com/office/drawing/2014/main" id="{2F97D87C-85E6-36A0-743E-496BF54C3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7" name="Text Box 34">
            <a:extLst>
              <a:ext uri="{FF2B5EF4-FFF2-40B4-BE49-F238E27FC236}">
                <a16:creationId xmlns:a16="http://schemas.microsoft.com/office/drawing/2014/main" id="{8E8CF6AC-F2C2-053F-5E02-3B3FE6047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886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9488" name="AutoShape 36">
            <a:extLst>
              <a:ext uri="{FF2B5EF4-FFF2-40B4-BE49-F238E27FC236}">
                <a16:creationId xmlns:a16="http://schemas.microsoft.com/office/drawing/2014/main" id="{67C58E59-4FBE-D0FD-1135-63697FD7CA88}"/>
              </a:ext>
            </a:extLst>
          </p:cNvPr>
          <p:cNvSpPr>
            <a:spLocks/>
          </p:cNvSpPr>
          <p:nvPr/>
        </p:nvSpPr>
        <p:spPr bwMode="auto">
          <a:xfrm rot="-5400000">
            <a:off x="2324100" y="2400300"/>
            <a:ext cx="457200" cy="19050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89" name="AutoShape 37">
            <a:extLst>
              <a:ext uri="{FF2B5EF4-FFF2-40B4-BE49-F238E27FC236}">
                <a16:creationId xmlns:a16="http://schemas.microsoft.com/office/drawing/2014/main" id="{1539AB35-5EFC-AA76-FDBD-88217EC873C3}"/>
              </a:ext>
            </a:extLst>
          </p:cNvPr>
          <p:cNvSpPr>
            <a:spLocks/>
          </p:cNvSpPr>
          <p:nvPr/>
        </p:nvSpPr>
        <p:spPr bwMode="auto">
          <a:xfrm rot="-5400000">
            <a:off x="2628900" y="3619500"/>
            <a:ext cx="457200" cy="2514600"/>
          </a:xfrm>
          <a:prstGeom prst="leftBrace">
            <a:avLst>
              <a:gd name="adj1" fmla="val 4723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90" name="Rectangle 39">
            <a:extLst>
              <a:ext uri="{FF2B5EF4-FFF2-40B4-BE49-F238E27FC236}">
                <a16:creationId xmlns:a16="http://schemas.microsoft.com/office/drawing/2014/main" id="{D62EDB62-3916-F335-2905-950B6434B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04800"/>
            <a:ext cx="3429000" cy="6400800"/>
          </a:xfrm>
          <a:prstGeom prst="rect">
            <a:avLst/>
          </a:prstGeom>
          <a:solidFill>
            <a:srgbClr val="CC99FF">
              <a:alpha val="7843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491" name="Line 40">
            <a:extLst>
              <a:ext uri="{FF2B5EF4-FFF2-40B4-BE49-F238E27FC236}">
                <a16:creationId xmlns:a16="http://schemas.microsoft.com/office/drawing/2014/main" id="{CA090FED-13C3-4D10-8CEA-A7470809B8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2" name="Line 41">
            <a:extLst>
              <a:ext uri="{FF2B5EF4-FFF2-40B4-BE49-F238E27FC236}">
                <a16:creationId xmlns:a16="http://schemas.microsoft.com/office/drawing/2014/main" id="{E4818332-C3EA-9F56-FD16-7A5E1ABF3C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3" name="Text Box 42">
            <a:extLst>
              <a:ext uri="{FF2B5EF4-FFF2-40B4-BE49-F238E27FC236}">
                <a16:creationId xmlns:a16="http://schemas.microsoft.com/office/drawing/2014/main" id="{D4895055-210D-F867-297D-9EF5B95CB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4102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494" name="Line 43">
            <a:extLst>
              <a:ext uri="{FF2B5EF4-FFF2-40B4-BE49-F238E27FC236}">
                <a16:creationId xmlns:a16="http://schemas.microsoft.com/office/drawing/2014/main" id="{7E712E8B-FDFC-6AE0-3C4A-089B11022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5" name="Text Box 44">
            <a:extLst>
              <a:ext uri="{FF2B5EF4-FFF2-40B4-BE49-F238E27FC236}">
                <a16:creationId xmlns:a16="http://schemas.microsoft.com/office/drawing/2014/main" id="{E4C37D74-557A-FB0F-11A2-D56B33A67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4102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9496" name="Line 45">
            <a:extLst>
              <a:ext uri="{FF2B5EF4-FFF2-40B4-BE49-F238E27FC236}">
                <a16:creationId xmlns:a16="http://schemas.microsoft.com/office/drawing/2014/main" id="{AA4DEE97-191B-3413-77E0-979208B12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7" name="Text Box 46">
            <a:extLst>
              <a:ext uri="{FF2B5EF4-FFF2-40B4-BE49-F238E27FC236}">
                <a16:creationId xmlns:a16="http://schemas.microsoft.com/office/drawing/2014/main" id="{F7E566E6-9BFD-648A-D05B-D3C13563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9498" name="Line 47">
            <a:extLst>
              <a:ext uri="{FF2B5EF4-FFF2-40B4-BE49-F238E27FC236}">
                <a16:creationId xmlns:a16="http://schemas.microsoft.com/office/drawing/2014/main" id="{FA39F338-9590-8247-BA33-E3FD92CEF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99" name="Text Box 48">
            <a:extLst>
              <a:ext uri="{FF2B5EF4-FFF2-40B4-BE49-F238E27FC236}">
                <a16:creationId xmlns:a16="http://schemas.microsoft.com/office/drawing/2014/main" id="{0B3E70A6-70F8-6C80-0547-C3C5F19E1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9500" name="Line 49">
            <a:extLst>
              <a:ext uri="{FF2B5EF4-FFF2-40B4-BE49-F238E27FC236}">
                <a16:creationId xmlns:a16="http://schemas.microsoft.com/office/drawing/2014/main" id="{83717C19-5B3C-DB69-C833-B36CB1FD4D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1" name="Text Box 50">
            <a:extLst>
              <a:ext uri="{FF2B5EF4-FFF2-40B4-BE49-F238E27FC236}">
                <a16:creationId xmlns:a16="http://schemas.microsoft.com/office/drawing/2014/main" id="{D14FDDE4-66C1-E562-BD62-19B931F28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9502" name="Line 51">
            <a:extLst>
              <a:ext uri="{FF2B5EF4-FFF2-40B4-BE49-F238E27FC236}">
                <a16:creationId xmlns:a16="http://schemas.microsoft.com/office/drawing/2014/main" id="{E7610EE4-6146-57F5-C621-7F64332F1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94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3" name="Text Box 52">
            <a:extLst>
              <a:ext uri="{FF2B5EF4-FFF2-40B4-BE49-F238E27FC236}">
                <a16:creationId xmlns:a16="http://schemas.microsoft.com/office/drawing/2014/main" id="{C808D59D-F45B-163D-1FC3-0BF94A641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410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9504" name="AutoShape 53">
            <a:extLst>
              <a:ext uri="{FF2B5EF4-FFF2-40B4-BE49-F238E27FC236}">
                <a16:creationId xmlns:a16="http://schemas.microsoft.com/office/drawing/2014/main" id="{1AAE8618-9A9B-42A4-381E-5AA1EEBC301A}"/>
              </a:ext>
            </a:extLst>
          </p:cNvPr>
          <p:cNvSpPr>
            <a:spLocks/>
          </p:cNvSpPr>
          <p:nvPr/>
        </p:nvSpPr>
        <p:spPr bwMode="auto">
          <a:xfrm rot="-5400000">
            <a:off x="2628900" y="5143500"/>
            <a:ext cx="457200" cy="2514600"/>
          </a:xfrm>
          <a:prstGeom prst="leftBrace">
            <a:avLst>
              <a:gd name="adj1" fmla="val 5693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505" name="Line 3">
            <a:extLst>
              <a:ext uri="{FF2B5EF4-FFF2-40B4-BE49-F238E27FC236}">
                <a16:creationId xmlns:a16="http://schemas.microsoft.com/office/drawing/2014/main" id="{1D66CDA0-7455-DCA7-366E-52972F2A7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5240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6" name="Line 6">
            <a:extLst>
              <a:ext uri="{FF2B5EF4-FFF2-40B4-BE49-F238E27FC236}">
                <a16:creationId xmlns:a16="http://schemas.microsoft.com/office/drawing/2014/main" id="{26006184-DDA5-8792-E3B4-F39FBFD7D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7" name="Text Box 9">
            <a:extLst>
              <a:ext uri="{FF2B5EF4-FFF2-40B4-BE49-F238E27FC236}">
                <a16:creationId xmlns:a16="http://schemas.microsoft.com/office/drawing/2014/main" id="{9138B476-CF5B-5A94-7A0D-010C665AF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858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9508" name="Line 10">
            <a:extLst>
              <a:ext uri="{FF2B5EF4-FFF2-40B4-BE49-F238E27FC236}">
                <a16:creationId xmlns:a16="http://schemas.microsoft.com/office/drawing/2014/main" id="{62CA8976-49CF-2945-9A64-5DCBDCDC7B5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09" name="Text Box 11">
            <a:extLst>
              <a:ext uri="{FF2B5EF4-FFF2-40B4-BE49-F238E27FC236}">
                <a16:creationId xmlns:a16="http://schemas.microsoft.com/office/drawing/2014/main" id="{15713789-4AAA-3481-DDC0-C40EB4858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858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15</a:t>
            </a:r>
          </a:p>
        </p:txBody>
      </p:sp>
      <p:sp>
        <p:nvSpPr>
          <p:cNvPr id="19510" name="Line 12">
            <a:extLst>
              <a:ext uri="{FF2B5EF4-FFF2-40B4-BE49-F238E27FC236}">
                <a16:creationId xmlns:a16="http://schemas.microsoft.com/office/drawing/2014/main" id="{A55E6DB6-D743-AA8C-FAC6-648DDE627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1" name="Text Box 13">
            <a:extLst>
              <a:ext uri="{FF2B5EF4-FFF2-40B4-BE49-F238E27FC236}">
                <a16:creationId xmlns:a16="http://schemas.microsoft.com/office/drawing/2014/main" id="{CB053B80-8075-D269-96B6-429F2C93D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25</a:t>
            </a:r>
          </a:p>
        </p:txBody>
      </p:sp>
      <p:sp>
        <p:nvSpPr>
          <p:cNvPr id="19512" name="Line 14">
            <a:extLst>
              <a:ext uri="{FF2B5EF4-FFF2-40B4-BE49-F238E27FC236}">
                <a16:creationId xmlns:a16="http://schemas.microsoft.com/office/drawing/2014/main" id="{AF883786-4027-B6E8-103C-02C6CA980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3" name="Text Box 15">
            <a:extLst>
              <a:ext uri="{FF2B5EF4-FFF2-40B4-BE49-F238E27FC236}">
                <a16:creationId xmlns:a16="http://schemas.microsoft.com/office/drawing/2014/main" id="{31547759-2207-A984-D3F1-BFFF485F5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19514" name="Line 16">
            <a:extLst>
              <a:ext uri="{FF2B5EF4-FFF2-40B4-BE49-F238E27FC236}">
                <a16:creationId xmlns:a16="http://schemas.microsoft.com/office/drawing/2014/main" id="{CEB242AF-AEBB-3476-9141-EF5D80582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5" name="Text Box 17">
            <a:extLst>
              <a:ext uri="{FF2B5EF4-FFF2-40B4-BE49-F238E27FC236}">
                <a16:creationId xmlns:a16="http://schemas.microsoft.com/office/drawing/2014/main" id="{AF203536-B733-9563-8C1A-D1AA4D353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45</a:t>
            </a:r>
          </a:p>
        </p:txBody>
      </p:sp>
      <p:sp>
        <p:nvSpPr>
          <p:cNvPr id="19516" name="Line 18">
            <a:extLst>
              <a:ext uri="{FF2B5EF4-FFF2-40B4-BE49-F238E27FC236}">
                <a16:creationId xmlns:a16="http://schemas.microsoft.com/office/drawing/2014/main" id="{CD26D225-7074-5D56-4A52-F81312B86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121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7" name="Text Box 19">
            <a:extLst>
              <a:ext uri="{FF2B5EF4-FFF2-40B4-BE49-F238E27FC236}">
                <a16:creationId xmlns:a16="http://schemas.microsoft.com/office/drawing/2014/main" id="{5060DF5E-C762-EAA5-6A0D-F9DBE82EA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685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55</a:t>
            </a:r>
          </a:p>
        </p:txBody>
      </p:sp>
      <p:sp>
        <p:nvSpPr>
          <p:cNvPr id="19518" name="AutoShape 21">
            <a:extLst>
              <a:ext uri="{FF2B5EF4-FFF2-40B4-BE49-F238E27FC236}">
                <a16:creationId xmlns:a16="http://schemas.microsoft.com/office/drawing/2014/main" id="{C59DBBAE-EC09-669B-1B50-001DE90967BC}"/>
              </a:ext>
            </a:extLst>
          </p:cNvPr>
          <p:cNvSpPr>
            <a:spLocks/>
          </p:cNvSpPr>
          <p:nvPr/>
        </p:nvSpPr>
        <p:spPr bwMode="auto">
          <a:xfrm rot="-5400000">
            <a:off x="4419600" y="609600"/>
            <a:ext cx="457200" cy="2286000"/>
          </a:xfrm>
          <a:prstGeom prst="leftBrace">
            <a:avLst>
              <a:gd name="adj1" fmla="val 51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519" name="AutoShape 36">
            <a:extLst>
              <a:ext uri="{FF2B5EF4-FFF2-40B4-BE49-F238E27FC236}">
                <a16:creationId xmlns:a16="http://schemas.microsoft.com/office/drawing/2014/main" id="{2A2B0BE7-F965-F574-BE61-9049DDBBD7B4}"/>
              </a:ext>
            </a:extLst>
          </p:cNvPr>
          <p:cNvSpPr>
            <a:spLocks/>
          </p:cNvSpPr>
          <p:nvPr/>
        </p:nvSpPr>
        <p:spPr bwMode="auto">
          <a:xfrm rot="-5400000">
            <a:off x="2324100" y="800100"/>
            <a:ext cx="457200" cy="19050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9520" name="AutoShape 21">
            <a:extLst>
              <a:ext uri="{FF2B5EF4-FFF2-40B4-BE49-F238E27FC236}">
                <a16:creationId xmlns:a16="http://schemas.microsoft.com/office/drawing/2014/main" id="{886B4DEA-442A-E99C-9366-EC7F64BB1B49}"/>
              </a:ext>
            </a:extLst>
          </p:cNvPr>
          <p:cNvSpPr>
            <a:spLocks/>
          </p:cNvSpPr>
          <p:nvPr/>
        </p:nvSpPr>
        <p:spPr bwMode="auto">
          <a:xfrm rot="-5400000">
            <a:off x="5029200" y="5260975"/>
            <a:ext cx="457200" cy="2286000"/>
          </a:xfrm>
          <a:prstGeom prst="leftBrace">
            <a:avLst>
              <a:gd name="adj1" fmla="val 513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19521" name="Straight Connector 72">
            <a:extLst>
              <a:ext uri="{FF2B5EF4-FFF2-40B4-BE49-F238E27FC236}">
                <a16:creationId xmlns:a16="http://schemas.microsoft.com/office/drawing/2014/main" id="{930621C8-E707-0AE0-DE67-AFDA3331E1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10000" y="3048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2" name="Straight Connector 73">
            <a:extLst>
              <a:ext uri="{FF2B5EF4-FFF2-40B4-BE49-F238E27FC236}">
                <a16:creationId xmlns:a16="http://schemas.microsoft.com/office/drawing/2014/main" id="{FE56D883-DBC7-A806-3EF5-F70647EE951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383088" y="3048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3" name="Straight Connector 74">
            <a:extLst>
              <a:ext uri="{FF2B5EF4-FFF2-40B4-BE49-F238E27FC236}">
                <a16:creationId xmlns:a16="http://schemas.microsoft.com/office/drawing/2014/main" id="{8EEA92BB-FD1C-EF6E-80F0-D193FB2FAA1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3313" y="338138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4" name="Straight Connector 75">
            <a:extLst>
              <a:ext uri="{FF2B5EF4-FFF2-40B4-BE49-F238E27FC236}">
                <a16:creationId xmlns:a16="http://schemas.microsoft.com/office/drawing/2014/main" id="{406C6B25-C7D4-66E0-3302-CB4D825D50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86400" y="304800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5" name="Straight Connector 76">
            <a:extLst>
              <a:ext uri="{FF2B5EF4-FFF2-40B4-BE49-F238E27FC236}">
                <a16:creationId xmlns:a16="http://schemas.microsoft.com/office/drawing/2014/main" id="{7DD0E6B7-32D9-8E6B-7E32-B8964E67CD5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056313" y="284163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526" name="Straight Connector 77">
            <a:extLst>
              <a:ext uri="{FF2B5EF4-FFF2-40B4-BE49-F238E27FC236}">
                <a16:creationId xmlns:a16="http://schemas.microsoft.com/office/drawing/2014/main" id="{A414B388-A763-534E-DC27-C7275C8E0D4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29400" y="284163"/>
            <a:ext cx="0" cy="640080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527" name="TextBox 78">
            <a:extLst>
              <a:ext uri="{FF2B5EF4-FFF2-40B4-BE49-F238E27FC236}">
                <a16:creationId xmlns:a16="http://schemas.microsoft.com/office/drawing/2014/main" id="{087000D8-AD44-8777-66BD-87FCDBF70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-15875"/>
            <a:ext cx="685800" cy="368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1ACED81-8792-C11E-62B3-E05F01923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44488"/>
            <a:ext cx="8150225" cy="1143000"/>
          </a:xfrm>
        </p:spPr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Model I prescriptions, assumptions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F9053-5608-8A53-AD9A-78499CC2E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7213"/>
            <a:ext cx="8991600" cy="41148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Assume:</a:t>
            </a:r>
            <a:endParaRPr lang="en-US" dirty="0"/>
          </a:p>
          <a:p>
            <a:pPr lvl="1">
              <a:defRPr/>
            </a:pPr>
            <a:r>
              <a:rPr lang="en-US" dirty="0"/>
              <a:t>200 acres of forest type A and 300 acres of forest type B</a:t>
            </a:r>
          </a:p>
          <a:p>
            <a:pPr lvl="1">
              <a:defRPr/>
            </a:pPr>
            <a:r>
              <a:rPr lang="en-US" dirty="0"/>
              <a:t>For simplicity, timber yield per acre is equal to (Age Class*10)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br>
              <a:rPr lang="en-US" dirty="0"/>
            </a:br>
            <a:r>
              <a:rPr lang="en-US" b="1" dirty="0"/>
              <a:t>Formulate a Model I based system to plan the management of a forest for six decades to: </a:t>
            </a:r>
            <a:endParaRPr lang="en-US" dirty="0"/>
          </a:p>
          <a:p>
            <a:pPr lvl="1">
              <a:defRPr/>
            </a:pPr>
            <a:r>
              <a:rPr lang="en-US" dirty="0"/>
              <a:t>achieve even flow of timber across decades; </a:t>
            </a:r>
          </a:p>
          <a:p>
            <a:pPr lvl="1">
              <a:defRPr/>
            </a:pPr>
            <a:r>
              <a:rPr lang="en-US" dirty="0"/>
              <a:t>try to maximize total timber production.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824A1D-5A80-747F-EDFA-4BDD4B7B3ABB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1066800"/>
          <a:ext cx="7696202" cy="4924430"/>
        </p:xfrm>
        <a:graphic>
          <a:graphicData uri="http://schemas.openxmlformats.org/drawingml/2006/table">
            <a:tbl>
              <a:tblPr/>
              <a:tblGrid>
                <a:gridCol w="8868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6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68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68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54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2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91244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1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2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3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4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5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Decade 6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Comments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80">
                <a:tc gridSpan="8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Forest a (age tallied at the end of each period)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519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1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65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75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85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2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3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4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80">
                <a:tc gridSpan="8"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Forest b (age tallied at the end of each period)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02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1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65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75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85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95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2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3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78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4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620"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Alt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45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15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25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35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Age 5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5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4572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4572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anose="05000000000000000000" pitchFamily="2" charset="2"/>
                        <a:defRPr sz="170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SRI Conservation" panose="02000000000000000000" pitchFamily="2" charset="0"/>
                        <a:ea typeface="ＭＳ Ｐゴシック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53879" marR="53879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E583-BE9F-5F9C-FFF0-9B8BDEAB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133600"/>
            <a:ext cx="7313612" cy="114300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Constraints dealing with other management require­ments are also easily incorporated.  Some of the more common ones include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B02C-E747-D56F-44AD-D94381086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505200"/>
            <a:ext cx="7313612" cy="167798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-9144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budget limitations</a:t>
            </a:r>
            <a:endParaRPr lang="en-US" sz="3200" dirty="0"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-9144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non-timber resource requirements</a:t>
            </a:r>
            <a:endParaRPr lang="en-US" sz="32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tabLst>
                <a:tab pos="-91440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ending inventory requirement</a:t>
            </a:r>
            <a:endParaRPr lang="en-US" sz="3200" dirty="0">
              <a:effectLst/>
              <a:latin typeface="ESRI Conservation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714838"/>
      </p:ext>
    </p:extLst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10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106" charset="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1514</TotalTime>
  <Words>2046</Words>
  <Application>Microsoft Office PowerPoint</Application>
  <PresentationFormat>On-screen Show (4:3)</PresentationFormat>
  <Paragraphs>869</Paragraphs>
  <Slides>22</Slides>
  <Notes>4</Notes>
  <HiddenSlides>7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ESRI Conservation</vt:lpstr>
      <vt:lpstr>ＭＳ Ｐゴシック</vt:lpstr>
      <vt:lpstr>Arial</vt:lpstr>
      <vt:lpstr>Calibri</vt:lpstr>
      <vt:lpstr>Times New Roman</vt:lpstr>
      <vt:lpstr>Verdana</vt:lpstr>
      <vt:lpstr>Wingdings</vt:lpstr>
      <vt:lpstr>Eclipse</vt:lpstr>
      <vt:lpstr>Visio</vt:lpstr>
      <vt:lpstr>Document</vt:lpstr>
      <vt:lpstr>Introduction to the Model I forest planning framework</vt:lpstr>
      <vt:lpstr>Model I</vt:lpstr>
      <vt:lpstr>Diagram for the original dynamic model</vt:lpstr>
      <vt:lpstr>All model I prescriptions</vt:lpstr>
      <vt:lpstr>All model I prescriptions</vt:lpstr>
      <vt:lpstr>Model I decision variables</vt:lpstr>
      <vt:lpstr>Reformulate the dynamic model</vt:lpstr>
      <vt:lpstr>Other constraints</vt:lpstr>
      <vt:lpstr>How to formulate even timber flow constraint?</vt:lpstr>
      <vt:lpstr>The basic structure of Model I</vt:lpstr>
      <vt:lpstr>An example used for homework 4</vt:lpstr>
      <vt:lpstr>Prescriptions built for the forest</vt:lpstr>
      <vt:lpstr>Mathematical formulations</vt:lpstr>
      <vt:lpstr>Let’s look at the Excel together</vt:lpstr>
      <vt:lpstr>PowerPoint Presentation</vt:lpstr>
      <vt:lpstr>PowerPoint Presentation</vt:lpstr>
      <vt:lpstr>A Model I example</vt:lpstr>
      <vt:lpstr>PowerPoint Presentation</vt:lpstr>
      <vt:lpstr>PowerPoint Presentation</vt:lpstr>
      <vt:lpstr>Model I prescriptions, assumptions and objectives</vt:lpstr>
      <vt:lpstr>PowerPoint Presentation</vt:lpstr>
      <vt:lpstr>Constraints dealing with other management require­ments are also easily incorporated.  Some of the more common ones include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 Wei</dc:creator>
  <cp:lastModifiedBy>Wei,Yu</cp:lastModifiedBy>
  <cp:revision>201</cp:revision>
  <cp:lastPrinted>2011-10-10T14:35:58Z</cp:lastPrinted>
  <dcterms:created xsi:type="dcterms:W3CDTF">2010-10-25T19:15:40Z</dcterms:created>
  <dcterms:modified xsi:type="dcterms:W3CDTF">2025-11-19T20:34:34Z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